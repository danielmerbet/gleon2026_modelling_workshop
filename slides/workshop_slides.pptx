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Acknowledge we are literally at Banyoles -- use this! Set the hook: can we predict if it's safe to swim, using weather data alone?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timing quickly. Flag the break. Emphasise this is hands-on R throughout -- everyone should have RStudio open with the repo cloned.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people 3-5 minutes to get 00_packages.R running. Troubleshoot installs now, not later. Check everyone has R open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the whole workshop answers. Process-based physics for the lake's thermal structure + random forest to correct what the physics gets wrong = depth-by-depth risk map for every campaign, and eventually a live next-day forecast.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where do your own models sit on this spectrum? Today we deliberately sit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we only cover strategy 1. Mention 2 and 3 exist for people who want to go further after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window if the lake is visible! This slide sets up exactly the two failure modes the process model will show in Part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campaigns are summer -- high air temp, strong stratification expected. Point out the train/test split before diving into 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what's that warm patch at 25-28 m in some campaigns? Is the thermometer broken? -&gt; intermittent karstic groundwater intrusion, ~18C. A process model will miss this unless we tell it to look.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May 2007 exception -- why? Spring mixing not yet complete. Below the thermocline O2 collapses fast in summer.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centrepiece visual we will try to reproduce with the hybrid model in Part 4. Ask: where would YOU stop diving?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campaigns are summer -- high air temp, strong stratification. This is the forcing data the process model and later the RF will use.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risk thresholds (2/4/6 mg/L DO) are the lens for every plot in the rest of the workshop. Make sure everyone understands them before moving to Part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running the model, ask: what would you expect this to get right? Wrong? Right: surface seasonality. Wrong: groundwater anomaly, anoxia. Show the DO saturation formula -- this is real physics (Benson &amp; Krause 1984), not an ML trick.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overall fit on the bulk structure -- this is what physics alone buys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cold at 20-28 m in some campaigns. Why, and why does that pattern matter for ML? Structured residuals = learnable by ML. Random residuals = not. This is exactly the karstic intrusion signal from Part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never predicts anoxia. That is not a bug -- it is a design choice. We deliberately left this out, to give ML something useful to 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mentally with slide 'Observed swimmer-risk map' from Part 1 -- how close are we already, with physics alone?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break to make sure everyone's environment produced data/aca_modelled_train.rds and data/model_params.rds -- Part 3 needs both.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leave-one-campaign-out and not random splits? Random splits leak future information into training because rows from the same campaign are highly correlated. This is the single most important methodology point in the whole workshop.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this make physical sense? rel_depth and depth_x_summer dominating = the RF learnt the thermocline/anoxia-adjacent gradient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the temperature importance plot -- similar features dominate, which is reassuring: the RF is learning depth/season structure, not noise.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ML correction tightens the fit, especially at intermediate depths where the thermocline shape was poorly captured by the simple physics. We added process prediction + ML correction -- what guarantees DO &gt;= 0? pmax(0, ...), a simple physics constraint.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Black = observed, blue = process only, green = hybrid. This is the first genuinely held-out check.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next to the process-only DO residual plot from Part 2. The hybrid model now reproduces the sharp hypolimnetic O2 collapse.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participants read the numbers first before you talk. Ask who is surprised, and by what.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number a swimmer actually wants: how deep is safe, today?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wins? Why? Let the room debate before revealing that the hybrid model roughly halves RMSE vs. process-only on depth profiles, but watch the in-sample vs LOCO CV gap for the ML-only model -- that gap is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improved a lot, but the model still fails here. What would it take to fix this? More data, a biogeochemical module, GOTM with sediment oxygen demand.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is only as good as its weakest component. Use as many of the discussion prompts as time allows: (1) what would fix the spring/autumn surface DO gap? (2) how would you design a monitoring campaign to validate deep-water predictions? (3) is a surface-only Bathing Water Directive sample enough for a 20 m deep risk? (4) would you issue a public advisory off this model? (5) what process model fits YOUR lake better?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wrap-up slide for Part 4 before moving to the bonus material.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why we bothered with 64 model runs instead of one. Ask the room: when would you NOT need an ensemble? (When the process is well-observed and weather forecast skill is high, e.g. same-day nowcasting.) Also a nice moment to flag that even cutting-edge ML weather models don't forecast every variable -- radiation is missing from WeatherNext's output, so we fall back to a deterministic forecast for that one input.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live if time allows -- it hits the Open-Meteo ensemble API for tomorrow's forecast, runs all 64 WeatherNext members through the process + hybrid pipeline, and shows the median with a shaded 10-90% spread. Great closing demo: this is the payoff promised on slide 1, now honest about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genuinely new payoff of the ensemble: not just 'is it safe' but 'how confident are we'. Ask: how would you communicate a 60% probability of safe conditions to the public, versus a single yes/no forecast?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live example of finding and vetting an external dataset: we matched site A to the ACA station by comparing the deep-water plateau temperature on the one day both were sampled a day apart.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deep, dark points (20-50 m): the hybrid model is systematically too warm at depth on this new site.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Surface tracks well across all four years -- the divergence is concentrated at depth, which is what the next slide quantifies.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independent site, the process-only model beats the hybrid model. The +1C warm bias shows up in BOTH summer and winter subsets, so it isn't just seasonal extrapolation -- the random forest learned residual patterns specific to the single ACA sensor/site (calibration quirks, exact timing of that station's karstic intrusion) that don't transfer even to a physically similar site a few hundred metres away. This is a genuine, unplanned result -- not scripted for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the closing lessons-learned slide. Own the imperfection -- it's more useful pedagogically than a clean demo.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 The finding that the process-only model generalises better than the hybrid model is not a failure of the workshop -- it's the workshop's best lesson. A hybrid model is only trustworthy as far as its validation data reaches.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this its own moment -- Josep's data materially improved the workshop by giving us a genuine independent validation set.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this. Then open the floor: what process model would better represent YOUR lake?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contact info up during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40"/>
        </a:solidFill>
        <a:effectLst/>
      </p:bgPr>
    </p:bg>
    <p:spTree>
      <p:nvGrpSpPr>
        <p:cNvPr id="1" name=""/>
        <p:cNvGrpSpPr/>
        <p:nvPr/>
      </p:nvGrpSpPr>
      <p:grpSpPr/>
      <p:sp>
        <p:nvSpPr>
          <p:cNvPr id="2" name="Rectangle 1"/>
          <p:cNvSpPr/>
          <p:nvPr/>
        </p:nvSpPr>
        <p:spPr>
          <a:xfrm>
            <a:off x="0" y="6035040"/>
            <a:ext cx="12191695" cy="822960"/>
          </a:xfrm>
          <a:prstGeom prst="rect">
            <a:avLst/>
          </a:prstGeom>
          <a:solidFill>
            <a:srgbClr val="146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548640"/>
          </a:xfrm>
          <a:prstGeom prst="rect">
            <a:avLst/>
          </a:prstGeom>
          <a:noFill/>
        </p:spPr>
        <p:txBody>
          <a:bodyPr wrap="square">
            <a:spAutoFit/>
          </a:bodyPr>
          <a:lstStyle/>
          <a:p>
            <a:pPr algn="l">
              <a:lnSpc>
                <a:spcPct val="100000"/>
              </a:lnSpc>
            </a:pPr>
            <a:r>
              <a:rPr sz="1600" b="1" i="0">
                <a:solidFill>
                  <a:srgbClr val="E9C46A"/>
                </a:solidFill>
                <a:latin typeface="Calibri"/>
              </a:rPr>
              <a:t>GLEON MEETING · BANYOLES · 31 AUGUST 2026</a:t>
            </a:r>
          </a:p>
        </p:txBody>
      </p:sp>
      <p:sp>
        <p:nvSpPr>
          <p:cNvPr id="4" name="TextBox 3"/>
          <p:cNvSpPr txBox="1"/>
          <p:nvPr/>
        </p:nvSpPr>
        <p:spPr>
          <a:xfrm>
            <a:off x="777240" y="2286000"/>
            <a:ext cx="10515600" cy="1645920"/>
          </a:xfrm>
          <a:prstGeom prst="rect">
            <a:avLst/>
          </a:prstGeom>
          <a:noFill/>
        </p:spPr>
        <p:txBody>
          <a:bodyPr wrap="square">
            <a:spAutoFit/>
          </a:bodyPr>
          <a:lstStyle/>
          <a:p>
            <a:pPr algn="l">
              <a:lnSpc>
                <a:spcPct val="105000"/>
              </a:lnSpc>
            </a:pPr>
            <a:r>
              <a:rPr sz="4000" b="1" i="0">
                <a:solidFill>
                  <a:srgbClr val="FFFFFF"/>
                </a:solidFill>
                <a:latin typeface="Calibri"/>
              </a:rPr>
              <a:t>Is it safe to swim in Lake Banyoles</a:t>
            </a:r>
          </a:p>
          <a:p>
            <a:pPr algn="l">
              <a:lnSpc>
                <a:spcPct val="105000"/>
              </a:lnSpc>
            </a:pPr>
            <a:r>
              <a:rPr sz="4000" b="1" i="0">
                <a:solidFill>
                  <a:srgbClr val="FFFFFF"/>
                </a:solidFill>
                <a:latin typeface="Calibri"/>
              </a:rPr>
              <a:t>during the GLEON meeting?</a:t>
            </a:r>
          </a:p>
        </p:txBody>
      </p:sp>
      <p:sp>
        <p:nvSpPr>
          <p:cNvPr id="5" name="TextBox 4"/>
          <p:cNvSpPr txBox="1"/>
          <p:nvPr/>
        </p:nvSpPr>
        <p:spPr>
          <a:xfrm>
            <a:off x="822960" y="4023360"/>
            <a:ext cx="10058400" cy="548640"/>
          </a:xfrm>
          <a:prstGeom prst="rect">
            <a:avLst/>
          </a:prstGeom>
          <a:noFill/>
        </p:spPr>
        <p:txBody>
          <a:bodyPr wrap="square">
            <a:spAutoFit/>
          </a:bodyPr>
          <a:lstStyle/>
          <a:p>
            <a:pPr algn="l">
              <a:lnSpc>
                <a:spcPct val="100000"/>
              </a:lnSpc>
            </a:pPr>
            <a:r>
              <a:rPr sz="2000" b="0" i="1">
                <a:solidFill>
                  <a:srgbClr val="2A9D8F"/>
                </a:solidFill>
                <a:latin typeface="Calibri"/>
              </a:rPr>
              <a:t>Hybrid Lake Modelling with Process-Based Models and Machine Learning</a:t>
            </a:r>
          </a:p>
        </p:txBody>
      </p:sp>
      <p:sp>
        <p:nvSpPr>
          <p:cNvPr id="6" name="TextBox 5"/>
          <p:cNvSpPr txBox="1"/>
          <p:nvPr/>
        </p:nvSpPr>
        <p:spPr>
          <a:xfrm>
            <a:off x="822960" y="4846320"/>
            <a:ext cx="10058400" cy="822960"/>
          </a:xfrm>
          <a:prstGeom prst="rect">
            <a:avLst/>
          </a:prstGeom>
          <a:noFill/>
        </p:spPr>
        <p:txBody>
          <a:bodyPr wrap="square">
            <a:spAutoFit/>
          </a:bodyPr>
          <a:lstStyle/>
          <a:p>
            <a:pPr algn="l">
              <a:lnSpc>
                <a:spcPct val="100000"/>
              </a:lnSpc>
            </a:pPr>
            <a:r>
              <a:rPr sz="1500" b="0" i="0">
                <a:solidFill>
                  <a:srgbClr val="FFFFFF"/>
                </a:solidFill>
                <a:latin typeface="Calibri"/>
              </a:rPr>
              <a:t>Daniel Mercado-Bettín  |  CEAB-CSIC</a:t>
            </a:r>
          </a:p>
          <a:p>
            <a:pPr algn="l">
              <a:lnSpc>
                <a:spcPct val="100000"/>
              </a:lnSpc>
            </a:pPr>
            <a:r>
              <a:rPr sz="1500" b="0" i="0">
                <a:solidFill>
                  <a:srgbClr val="FFFFFF"/>
                </a:solidFill>
                <a:latin typeface="Calibri"/>
              </a:rPr>
              <a:t>Duration: 2.5–3 hours  ·  Language: R  ·  Level: Intermediate</a:t>
            </a:r>
          </a:p>
        </p:txBody>
      </p:sp>
      <p:sp>
        <p:nvSpPr>
          <p:cNvPr id="7" name="TextBox 6"/>
          <p:cNvSpPr txBox="1"/>
          <p:nvPr/>
        </p:nvSpPr>
        <p:spPr>
          <a:xfrm>
            <a:off x="822960" y="6172200"/>
            <a:ext cx="10058400" cy="457200"/>
          </a:xfrm>
          <a:prstGeom prst="rect">
            <a:avLst/>
          </a:prstGeom>
          <a:noFill/>
        </p:spPr>
        <p:txBody>
          <a:bodyPr wrap="square">
            <a:spAutoFit/>
          </a:bodyPr>
          <a:lstStyle/>
          <a:p>
            <a:pPr algn="l">
              <a:lnSpc>
                <a:spcPct val="100000"/>
              </a:lnSpc>
            </a:pPr>
            <a:r>
              <a:rPr sz="1300" b="0" i="0">
                <a:solidFill>
                  <a:srgbClr val="FFFFFF"/>
                </a:solidFill>
                <a:latin typeface="Calibri"/>
              </a:rPr>
              <a:t>github.com/danielmerbet/gleon2026_modelling_workshop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WORKSHOP STRUCTURE</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Agenda — 2.5 to 3 hours</a:t>
            </a:r>
          </a:p>
        </p:txBody>
      </p:sp>
      <p:graphicFrame>
        <p:nvGraphicFramePr>
          <p:cNvPr id="5" name="Table 4"/>
          <p:cNvGraphicFramePr>
            <a:graphicFrameLocks noGrp="1"/>
          </p:cNvGraphicFramePr>
          <p:nvPr/>
        </p:nvGraphicFramePr>
        <p:xfrm>
          <a:off x="548640" y="1828800"/>
          <a:ext cx="11064239" cy="4297680"/>
        </p:xfrm>
        <a:graphic>
          <a:graphicData uri="http://schemas.openxmlformats.org/drawingml/2006/table">
            <a:tbl>
              <a:tblPr firstRow="1" bandRow="1">
                <a:tableStyleId>{5C22544A-7EE6-4342-B048-85BDC9FD1C3A}</a:tableStyleId>
              </a:tblPr>
              <a:tblGrid>
                <a:gridCol w="1152525"/>
                <a:gridCol w="2996565"/>
                <a:gridCol w="5186362"/>
                <a:gridCol w="1728787"/>
              </a:tblGrid>
              <a:tr h="537210">
                <a:tc>
                  <a:txBody>
                    <a:bodyPr/>
                    <a:lstStyle/>
                    <a:p>
                      <a:pPr algn="l"/>
                      <a:r>
                        <a:rPr b="1" sz="1400">
                          <a:solidFill>
                            <a:srgbClr val="FFFFFF"/>
                          </a:solidFill>
                        </a:rPr>
                        <a:t>Part</a:t>
                      </a:r>
                    </a:p>
                  </a:txBody>
                  <a:tcPr>
                    <a:solidFill>
                      <a:srgbClr val="146C94"/>
                    </a:solidFill>
                  </a:tcPr>
                </a:tc>
                <a:tc>
                  <a:txBody>
                    <a:bodyPr/>
                    <a:lstStyle/>
                    <a:p>
                      <a:pPr algn="l"/>
                      <a:r>
                        <a:rPr b="1" sz="1400">
                          <a:solidFill>
                            <a:srgbClr val="FFFFFF"/>
                          </a:solidFill>
                        </a:rPr>
                        <a:t>Script</a:t>
                      </a:r>
                    </a:p>
                  </a:txBody>
                  <a:tcPr>
                    <a:solidFill>
                      <a:srgbClr val="146C94"/>
                    </a:solidFill>
                  </a:tcPr>
                </a:tc>
                <a:tc>
                  <a:txBody>
                    <a:bodyPr/>
                    <a:lstStyle/>
                    <a:p>
                      <a:pPr algn="l"/>
                      <a:r>
                        <a:rPr b="1" sz="1400">
                          <a:solidFill>
                            <a:srgbClr val="FFFFFF"/>
                          </a:solidFill>
                        </a:rPr>
                        <a:t>Topic</a:t>
                      </a:r>
                    </a:p>
                  </a:txBody>
                  <a:tcPr>
                    <a:solidFill>
                      <a:srgbClr val="146C94"/>
                    </a:solidFill>
                  </a:tcPr>
                </a:tc>
                <a:tc>
                  <a:txBody>
                    <a:bodyPr/>
                    <a:lstStyle/>
                    <a:p>
                      <a:pPr algn="l"/>
                      <a:r>
                        <a:rPr b="1" sz="1400">
                          <a:solidFill>
                            <a:srgbClr val="FFFFFF"/>
                          </a:solidFill>
                        </a:rPr>
                        <a:t>Time</a:t>
                      </a:r>
                    </a:p>
                  </a:txBody>
                  <a:tcPr>
                    <a:solidFill>
                      <a:srgbClr val="146C94"/>
                    </a:solidFill>
                  </a:tcPr>
                </a:tc>
              </a:tr>
              <a:tr h="537210">
                <a:tc>
                  <a:txBody>
                    <a:bodyPr/>
                    <a:lstStyle/>
                    <a:p>
                      <a:r>
                        <a:rPr sz="1400">
                          <a:solidFill>
                            <a:srgbClr val="0B2E40"/>
                          </a:solidFill>
                        </a:rPr>
                        <a:t>0</a:t>
                      </a:r>
                    </a:p>
                  </a:txBody>
                  <a:tcPr>
                    <a:solidFill>
                      <a:srgbClr val="FFFFFF"/>
                    </a:solidFill>
                  </a:tcPr>
                </a:tc>
                <a:tc>
                  <a:txBody>
                    <a:bodyPr/>
                    <a:lstStyle/>
                    <a:p>
                      <a:r>
                        <a:rPr sz="1400">
                          <a:solidFill>
                            <a:srgbClr val="0B2E40"/>
                          </a:solidFill>
                        </a:rPr>
                        <a:t>—</a:t>
                      </a:r>
                    </a:p>
                  </a:txBody>
                  <a:tcPr>
                    <a:solidFill>
                      <a:srgbClr val="FFFFFF"/>
                    </a:solidFill>
                  </a:tcPr>
                </a:tc>
                <a:tc>
                  <a:txBody>
                    <a:bodyPr/>
                    <a:lstStyle/>
                    <a:p>
                      <a:r>
                        <a:rPr sz="1400">
                          <a:solidFill>
                            <a:srgbClr val="0B2E40"/>
                          </a:solidFill>
                        </a:rPr>
                        <a:t>Introduction &amp; the swimmer-safety story</a:t>
                      </a:r>
                    </a:p>
                  </a:txBody>
                  <a:tcPr>
                    <a:solidFill>
                      <a:srgbClr val="FFFFFF"/>
                    </a:solidFill>
                  </a:tcPr>
                </a:tc>
                <a:tc>
                  <a:txBody>
                    <a:bodyPr/>
                    <a:lstStyle/>
                    <a:p>
                      <a:r>
                        <a:rPr sz="1400">
                          <a:solidFill>
                            <a:srgbClr val="0B2E40"/>
                          </a:solidFill>
                        </a:rPr>
                        <a:t>10 min</a:t>
                      </a:r>
                    </a:p>
                  </a:txBody>
                  <a:tcPr>
                    <a:solidFill>
                      <a:srgbClr val="FFFFFF"/>
                    </a:solidFill>
                  </a:tcPr>
                </a:tc>
              </a:tr>
              <a:tr h="537210">
                <a:tc>
                  <a:txBody>
                    <a:bodyPr/>
                    <a:lstStyle/>
                    <a:p>
                      <a:r>
                        <a:rPr sz="1400">
                          <a:solidFill>
                            <a:srgbClr val="0B2E40"/>
                          </a:solidFill>
                        </a:rPr>
                        <a:t>1</a:t>
                      </a:r>
                    </a:p>
                  </a:txBody>
                  <a:tcPr>
                    <a:solidFill>
                      <a:srgbClr val="ECF3F5"/>
                    </a:solidFill>
                  </a:tcPr>
                </a:tc>
                <a:tc>
                  <a:txBody>
                    <a:bodyPr/>
                    <a:lstStyle/>
                    <a:p>
                      <a:r>
                        <a:rPr sz="1400">
                          <a:solidFill>
                            <a:srgbClr val="0B2E40"/>
                          </a:solidFill>
                        </a:rPr>
                        <a:t>02_explore.R</a:t>
                      </a:r>
                    </a:p>
                  </a:txBody>
                  <a:tcPr>
                    <a:solidFill>
                      <a:srgbClr val="ECF3F5"/>
                    </a:solidFill>
                  </a:tcPr>
                </a:tc>
                <a:tc>
                  <a:txBody>
                    <a:bodyPr/>
                    <a:lstStyle/>
                    <a:p>
                      <a:r>
                        <a:rPr sz="1400">
                          <a:solidFill>
                            <a:srgbClr val="0B2E40"/>
                          </a:solidFill>
                        </a:rPr>
                        <a:t>Data exploration &amp; risk thresholds</a:t>
                      </a:r>
                    </a:p>
                  </a:txBody>
                  <a:tcPr>
                    <a:solidFill>
                      <a:srgbClr val="ECF3F5"/>
                    </a:solidFill>
                  </a:tcPr>
                </a:tc>
                <a:tc>
                  <a:txBody>
                    <a:bodyPr/>
                    <a:lstStyle/>
                    <a:p>
                      <a:r>
                        <a:rPr sz="1400">
                          <a:solidFill>
                            <a:srgbClr val="0B2E40"/>
                          </a:solidFill>
                        </a:rPr>
                        <a:t>30 min</a:t>
                      </a:r>
                    </a:p>
                  </a:txBody>
                  <a:tcPr>
                    <a:solidFill>
                      <a:srgbClr val="ECF3F5"/>
                    </a:solidFill>
                  </a:tcPr>
                </a:tc>
              </a:tr>
              <a:tr h="537210">
                <a:tc>
                  <a:txBody>
                    <a:bodyPr/>
                    <a:lstStyle/>
                    <a:p>
                      <a:r>
                        <a:rPr sz="1400">
                          <a:solidFill>
                            <a:srgbClr val="0B2E40"/>
                          </a:solidFill>
                        </a:rPr>
                        <a:t>2</a:t>
                      </a:r>
                    </a:p>
                  </a:txBody>
                  <a:tcPr>
                    <a:solidFill>
                      <a:srgbClr val="FFFFFF"/>
                    </a:solidFill>
                  </a:tcPr>
                </a:tc>
                <a:tc>
                  <a:txBody>
                    <a:bodyPr/>
                    <a:lstStyle/>
                    <a:p>
                      <a:r>
                        <a:rPr sz="1400">
                          <a:solidFill>
                            <a:srgbClr val="0B2E40"/>
                          </a:solidFill>
                        </a:rPr>
                        <a:t>03_process_model.R</a:t>
                      </a:r>
                    </a:p>
                  </a:txBody>
                  <a:tcPr>
                    <a:solidFill>
                      <a:srgbClr val="FFFFFF"/>
                    </a:solidFill>
                  </a:tcPr>
                </a:tc>
                <a:tc>
                  <a:txBody>
                    <a:bodyPr/>
                    <a:lstStyle/>
                    <a:p>
                      <a:r>
                        <a:rPr sz="1400">
                          <a:solidFill>
                            <a:srgbClr val="0B2E40"/>
                          </a:solidFill>
                        </a:rPr>
                        <a:t>1D process-based model &amp; residuals</a:t>
                      </a:r>
                    </a:p>
                  </a:txBody>
                  <a:tcPr>
                    <a:solidFill>
                      <a:srgbClr val="FFFFFF"/>
                    </a:solidFill>
                  </a:tcPr>
                </a:tc>
                <a:tc>
                  <a:txBody>
                    <a:bodyPr/>
                    <a:lstStyle/>
                    <a:p>
                      <a:r>
                        <a:rPr sz="1400">
                          <a:solidFill>
                            <a:srgbClr val="0B2E40"/>
                          </a:solidFill>
                        </a:rPr>
                        <a:t>40 min</a:t>
                      </a:r>
                    </a:p>
                  </a:txBody>
                  <a:tcPr>
                    <a:solidFill>
                      <a:srgbClr val="FFFFFF"/>
                    </a:solidFill>
                  </a:tcPr>
                </a:tc>
              </a:tr>
              <a:tr h="537210">
                <a:tc>
                  <a:txBody>
                    <a:bodyPr/>
                    <a:lstStyle/>
                    <a:p/>
                  </a:txBody>
                  <a:tcPr>
                    <a:solidFill>
                      <a:srgbClr val="ECF3F5"/>
                    </a:solidFill>
                  </a:tcPr>
                </a:tc>
                <a:tc>
                  <a:txBody>
                    <a:bodyPr/>
                    <a:lstStyle/>
                    <a:p/>
                  </a:txBody>
                  <a:tcPr>
                    <a:solidFill>
                      <a:srgbClr val="ECF3F5"/>
                    </a:solidFill>
                  </a:tcPr>
                </a:tc>
                <a:tc>
                  <a:txBody>
                    <a:bodyPr/>
                    <a:lstStyle/>
                    <a:p>
                      <a:r>
                        <a:rPr sz="1400">
                          <a:solidFill>
                            <a:srgbClr val="0B2E40"/>
                          </a:solidFill>
                        </a:rPr>
                        <a:t>☕ Break</a:t>
                      </a:r>
                    </a:p>
                  </a:txBody>
                  <a:tcPr>
                    <a:solidFill>
                      <a:srgbClr val="ECF3F5"/>
                    </a:solidFill>
                  </a:tcPr>
                </a:tc>
                <a:tc>
                  <a:txBody>
                    <a:bodyPr/>
                    <a:lstStyle/>
                    <a:p>
                      <a:r>
                        <a:rPr sz="1400">
                          <a:solidFill>
                            <a:srgbClr val="0B2E40"/>
                          </a:solidFill>
                        </a:rPr>
                        <a:t>10 min</a:t>
                      </a:r>
                    </a:p>
                  </a:txBody>
                  <a:tcPr>
                    <a:solidFill>
                      <a:srgbClr val="ECF3F5"/>
                    </a:solidFill>
                  </a:tcPr>
                </a:tc>
              </a:tr>
              <a:tr h="537210">
                <a:tc>
                  <a:txBody>
                    <a:bodyPr/>
                    <a:lstStyle/>
                    <a:p>
                      <a:r>
                        <a:rPr sz="1400">
                          <a:solidFill>
                            <a:srgbClr val="0B2E40"/>
                          </a:solidFill>
                        </a:rPr>
                        <a:t>3</a:t>
                      </a:r>
                    </a:p>
                  </a:txBody>
                  <a:tcPr>
                    <a:solidFill>
                      <a:srgbClr val="FFFFFF"/>
                    </a:solidFill>
                  </a:tcPr>
                </a:tc>
                <a:tc>
                  <a:txBody>
                    <a:bodyPr/>
                    <a:lstStyle/>
                    <a:p>
                      <a:r>
                        <a:rPr sz="1400">
                          <a:solidFill>
                            <a:srgbClr val="0B2E40"/>
                          </a:solidFill>
                        </a:rPr>
                        <a:t>04_ml_residuals.R</a:t>
                      </a:r>
                    </a:p>
                  </a:txBody>
                  <a:tcPr>
                    <a:solidFill>
                      <a:srgbClr val="FFFFFF"/>
                    </a:solidFill>
                  </a:tcPr>
                </a:tc>
                <a:tc>
                  <a:txBody>
                    <a:bodyPr/>
                    <a:lstStyle/>
                    <a:p>
                      <a:r>
                        <a:rPr sz="1400">
                          <a:solidFill>
                            <a:srgbClr val="0B2E40"/>
                          </a:solidFill>
                        </a:rPr>
                        <a:t>Random forest on residuals (LOCO CV)</a:t>
                      </a:r>
                    </a:p>
                  </a:txBody>
                  <a:tcPr>
                    <a:solidFill>
                      <a:srgbClr val="FFFFFF"/>
                    </a:solidFill>
                  </a:tcPr>
                </a:tc>
                <a:tc>
                  <a:txBody>
                    <a:bodyPr/>
                    <a:lstStyle/>
                    <a:p>
                      <a:r>
                        <a:rPr sz="1400">
                          <a:solidFill>
                            <a:srgbClr val="0B2E40"/>
                          </a:solidFill>
                        </a:rPr>
                        <a:t>40 min</a:t>
                      </a:r>
                    </a:p>
                  </a:txBody>
                  <a:tcPr>
                    <a:solidFill>
                      <a:srgbClr val="FFFFFF"/>
                    </a:solidFill>
                  </a:tcPr>
                </a:tc>
              </a:tr>
              <a:tr h="537210">
                <a:tc>
                  <a:txBody>
                    <a:bodyPr/>
                    <a:lstStyle/>
                    <a:p>
                      <a:r>
                        <a:rPr sz="1400">
                          <a:solidFill>
                            <a:srgbClr val="0B2E40"/>
                          </a:solidFill>
                        </a:rPr>
                        <a:t>4</a:t>
                      </a:r>
                    </a:p>
                  </a:txBody>
                  <a:tcPr>
                    <a:solidFill>
                      <a:srgbClr val="ECF3F5"/>
                    </a:solidFill>
                  </a:tcPr>
                </a:tc>
                <a:tc>
                  <a:txBody>
                    <a:bodyPr/>
                    <a:lstStyle/>
                    <a:p>
                      <a:r>
                        <a:rPr sz="1400">
                          <a:solidFill>
                            <a:srgbClr val="0B2E40"/>
                          </a:solidFill>
                        </a:rPr>
                        <a:t>05_hybrid_compare.R</a:t>
                      </a:r>
                    </a:p>
                  </a:txBody>
                  <a:tcPr>
                    <a:solidFill>
                      <a:srgbClr val="ECF3F5"/>
                    </a:solidFill>
                  </a:tcPr>
                </a:tc>
                <a:tc>
                  <a:txBody>
                    <a:bodyPr/>
                    <a:lstStyle/>
                    <a:p>
                      <a:r>
                        <a:rPr sz="1400">
                          <a:solidFill>
                            <a:srgbClr val="0B2E40"/>
                          </a:solidFill>
                        </a:rPr>
                        <a:t>Risk map, limitations &amp; discussion</a:t>
                      </a:r>
                    </a:p>
                  </a:txBody>
                  <a:tcPr>
                    <a:solidFill>
                      <a:srgbClr val="ECF3F5"/>
                    </a:solidFill>
                  </a:tcPr>
                </a:tc>
                <a:tc>
                  <a:txBody>
                    <a:bodyPr/>
                    <a:lstStyle/>
                    <a:p>
                      <a:r>
                        <a:rPr sz="1400">
                          <a:solidFill>
                            <a:srgbClr val="0B2E40"/>
                          </a:solidFill>
                        </a:rPr>
                        <a:t>20 min</a:t>
                      </a:r>
                    </a:p>
                  </a:txBody>
                  <a:tcPr>
                    <a:solidFill>
                      <a:srgbClr val="ECF3F5"/>
                    </a:solidFill>
                  </a:tcPr>
                </a:tc>
              </a:tr>
              <a:tr h="537210">
                <a:tc>
                  <a:txBody>
                    <a:bodyPr/>
                    <a:lstStyle/>
                    <a:p>
                      <a:r>
                        <a:rPr sz="1400">
                          <a:solidFill>
                            <a:srgbClr val="0B2E40"/>
                          </a:solidFill>
                        </a:rPr>
                        <a:t>Bonus</a:t>
                      </a:r>
                    </a:p>
                  </a:txBody>
                  <a:tcPr>
                    <a:solidFill>
                      <a:srgbClr val="FFFFFF"/>
                    </a:solidFill>
                  </a:tcPr>
                </a:tc>
                <a:tc>
                  <a:txBody>
                    <a:bodyPr/>
                    <a:lstStyle/>
                    <a:p>
                      <a:r>
                        <a:rPr sz="1400">
                          <a:solidFill>
                            <a:srgbClr val="0B2E40"/>
                          </a:solidFill>
                        </a:rPr>
                        <a:t>06 + 07</a:t>
                      </a:r>
                    </a:p>
                  </a:txBody>
                  <a:tcPr>
                    <a:solidFill>
                      <a:srgbClr val="FFFFFF"/>
                    </a:solidFill>
                  </a:tcPr>
                </a:tc>
                <a:tc>
                  <a:txBody>
                    <a:bodyPr/>
                    <a:lstStyle/>
                    <a:p>
                      <a:r>
                        <a:rPr sz="1400">
                          <a:solidFill>
                            <a:srgbClr val="0B2E40"/>
                          </a:solidFill>
                        </a:rPr>
                        <a:t>Live forecast &amp; independent validation</a:t>
                      </a:r>
                    </a:p>
                  </a:txBody>
                  <a:tcPr>
                    <a:solidFill>
                      <a:srgbClr val="FFFFFF"/>
                    </a:solidFill>
                  </a:tcPr>
                </a:tc>
                <a:tc>
                  <a:txBody>
                    <a:bodyPr/>
                    <a:lstStyle/>
                    <a:p>
                      <a:r>
                        <a:rPr sz="1400">
                          <a:solidFill>
                            <a:srgbClr val="0B2E40"/>
                          </a:solidFill>
                        </a:rPr>
                        <a:t>as time allows</a:t>
                      </a:r>
                    </a:p>
                  </a:txBody>
                  <a:tcPr>
                    <a:solidFill>
                      <a:srgbClr val="FFFFFF"/>
                    </a:solidFill>
                  </a:tcPr>
                </a:tc>
              </a:tr>
            </a:tbl>
          </a:graphicData>
        </a:graphic>
      </p:graphicFrame>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BEFORE WE START</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Setup check</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Clone: github.com/danielmerbet/gleon2026_modelling_workshop</a:t>
            </a:r>
          </a:p>
          <a:p>
            <a:pPr>
              <a:lnSpc>
                <a:spcPct val="108000"/>
              </a:lnSpc>
              <a:spcAft>
                <a:spcPts val="1000"/>
              </a:spcAft>
            </a:pPr>
            <a:r>
              <a:rPr sz="1700">
                <a:solidFill>
                  <a:srgbClr val="0B2E40"/>
                </a:solidFill>
                <a:latin typeface="Calibri"/>
              </a:rPr>
              <a:t>•  Open gleon-banyoles-workshop.Rproj in RStudio (sets working directory)</a:t>
            </a:r>
          </a:p>
          <a:p>
            <a:pPr>
              <a:lnSpc>
                <a:spcPct val="108000"/>
              </a:lnSpc>
              <a:spcAft>
                <a:spcPts val="1000"/>
              </a:spcAft>
            </a:pPr>
            <a:r>
              <a:rPr sz="1700">
                <a:solidFill>
                  <a:srgbClr val="0B2E40"/>
                </a:solidFill>
                <a:latin typeface="Calibri"/>
              </a:rPr>
              <a:t>•  Run 00_packages.R — installs &amp; loads everything (tidyverse, caret, randomForest, readxl, shiny, ...)</a:t>
            </a:r>
          </a:p>
          <a:p>
            <a:pPr>
              <a:lnSpc>
                <a:spcPct val="108000"/>
              </a:lnSpc>
              <a:spcAft>
                <a:spcPts val="1000"/>
              </a:spcAft>
            </a:pPr>
            <a:r>
              <a:rPr sz="1700">
                <a:solidFill>
                  <a:srgbClr val="0B2E40"/>
                </a:solidFill>
                <a:latin typeface="Calibri"/>
              </a:rPr>
              <a:t>•  Data is bundled — data/data.csv, data/era5_banyoles.csv, data/vilar_temperature.csv — no internet needed once cloned</a:t>
            </a:r>
          </a:p>
          <a:p>
            <a:pPr>
              <a:lnSpc>
                <a:spcPct val="108000"/>
              </a:lnSpc>
              <a:spcAft>
                <a:spcPts val="1000"/>
              </a:spcAft>
            </a:pPr>
            <a:r>
              <a:rPr sz="1700">
                <a:solidFill>
                  <a:srgbClr val="0B2E40"/>
                </a:solidFill>
                <a:latin typeface="Calibri"/>
              </a:rPr>
              <a:t>•  We live-code throughout — follow along in the numbered scripts, 01 → 07, in order</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THE STORY</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Why hybrid modelling?</a:t>
            </a:r>
          </a:p>
        </p:txBody>
      </p:sp>
      <p:sp>
        <p:nvSpPr>
          <p:cNvPr id="5" name="TextBox 4"/>
          <p:cNvSpPr txBox="1"/>
          <p:nvPr/>
        </p:nvSpPr>
        <p:spPr>
          <a:xfrm>
            <a:off x="640080" y="1737360"/>
            <a:ext cx="10881360" cy="2194560"/>
          </a:xfrm>
          <a:prstGeom prst="rect">
            <a:avLst/>
          </a:prstGeom>
          <a:noFill/>
        </p:spPr>
        <p:txBody>
          <a:bodyPr wrap="square">
            <a:spAutoFit/>
          </a:bodyPr>
          <a:lstStyle/>
          <a:p>
            <a:pPr algn="l">
              <a:lnSpc>
                <a:spcPct val="125000"/>
              </a:lnSpc>
            </a:pPr>
            <a:r>
              <a:rPr sz="1800" b="0" i="0">
                <a:solidFill>
                  <a:srgbClr val="0B2E40"/>
                </a:solidFill>
                <a:latin typeface="Calibri"/>
              </a:rPr>
              <a:t>Lake Banyoles looks perfectly safe from the shore. But every summer, as the surface warms to 28°C, the water column stratifies and biological decomposition strips the oxygen from the deep layer.</a:t>
            </a:r>
          </a:p>
          <a:p>
            <a:pPr algn="l">
              <a:lnSpc>
                <a:spcPct val="125000"/>
              </a:lnSpc>
            </a:pPr>
          </a:p>
          <a:p>
            <a:pPr algn="l">
              <a:lnSpc>
                <a:spcPct val="125000"/>
              </a:lnSpc>
            </a:pPr>
            <a:r>
              <a:rPr sz="1800" b="0" i="0">
                <a:solidFill>
                  <a:srgbClr val="0B2E40"/>
                </a:solidFill>
                <a:latin typeface="Calibri"/>
              </a:rPr>
              <a:t>Below ~15–20 m: near-zero dissolved oxygen and potential hydrogen sulphide. A freediver descending without knowing the profile is in serious danger.</a:t>
            </a:r>
          </a:p>
        </p:txBody>
      </p:sp>
      <p:sp>
        <p:nvSpPr>
          <p:cNvPr id="6" name="Rectangle 5"/>
          <p:cNvSpPr/>
          <p:nvPr/>
        </p:nvSpPr>
        <p:spPr>
          <a:xfrm>
            <a:off x="640080" y="4206240"/>
            <a:ext cx="10881360" cy="1371600"/>
          </a:xfrm>
          <a:prstGeom prst="rect">
            <a:avLst/>
          </a:prstGeom>
          <a:solidFill>
            <a:srgbClr val="146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43400"/>
            <a:ext cx="10332720" cy="1097280"/>
          </a:xfrm>
          <a:prstGeom prst="rect">
            <a:avLst/>
          </a:prstGeom>
          <a:noFill/>
        </p:spPr>
        <p:txBody>
          <a:bodyPr wrap="square">
            <a:spAutoFit/>
          </a:bodyPr>
          <a:lstStyle/>
          <a:p>
            <a:pPr algn="l">
              <a:lnSpc>
                <a:spcPct val="100000"/>
              </a:lnSpc>
            </a:pPr>
            <a:r>
              <a:rPr sz="2200" b="1" i="1">
                <a:solidFill>
                  <a:srgbClr val="FFFFFF"/>
                </a:solidFill>
                <a:latin typeface="Calibri"/>
              </a:rPr>
              <a:t>Can we predict the safe swimming depth from weather data alone,</a:t>
            </a:r>
          </a:p>
          <a:p>
            <a:pPr algn="l">
              <a:lnSpc>
                <a:spcPct val="100000"/>
              </a:lnSpc>
            </a:pPr>
            <a:r>
              <a:rPr sz="2200" b="1" i="1">
                <a:solidFill>
                  <a:srgbClr val="FFFFFF"/>
                </a:solidFill>
                <a:latin typeface="Calibri"/>
              </a:rPr>
              <a:t>without sending a boat out?</a:t>
            </a:r>
          </a:p>
        </p:txBody>
      </p:sp>
      <p:sp>
        <p:nvSpPr>
          <p:cNvPr id="8" name="TextBox 7"/>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THE MODELLING SPECTRUM</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Where does your model sit?</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Pure process model  (GLM, GOTM, DYRESM)</a:t>
            </a:r>
          </a:p>
          <a:p>
            <a:pPr>
              <a:lnSpc>
                <a:spcPct val="108000"/>
              </a:lnSpc>
              <a:spcAft>
                <a:spcPts val="1000"/>
              </a:spcAft>
            </a:pPr>
            <a:r>
              <a:rPr sz="1600">
                <a:solidFill>
                  <a:srgbClr val="5A6266"/>
                </a:solidFill>
                <a:latin typeface="Calibri"/>
              </a:rPr>
              <a:t>      –  Strengths: conservation laws, extrapolation, interpretability</a:t>
            </a:r>
          </a:p>
          <a:p>
            <a:pPr>
              <a:lnSpc>
                <a:spcPct val="108000"/>
              </a:lnSpc>
              <a:spcAft>
                <a:spcPts val="1000"/>
              </a:spcAft>
            </a:pPr>
            <a:r>
              <a:rPr sz="1600">
                <a:solidFill>
                  <a:srgbClr val="5A6266"/>
                </a:solidFill>
                <a:latin typeface="Calibri"/>
              </a:rPr>
              <a:t>      –  Weaknesses: calibration cost, complex biogeochemistry, data-hungry parameters</a:t>
            </a:r>
          </a:p>
          <a:p>
            <a:pPr>
              <a:lnSpc>
                <a:spcPct val="108000"/>
              </a:lnSpc>
              <a:spcAft>
                <a:spcPts val="1000"/>
              </a:spcAft>
            </a:pPr>
            <a:r>
              <a:rPr sz="1700">
                <a:solidFill>
                  <a:srgbClr val="0B2E40"/>
                </a:solidFill>
                <a:latin typeface="Calibri"/>
              </a:rPr>
              <a:t>•  Pure ML  (random forest, LSTM, XGBoost)</a:t>
            </a:r>
          </a:p>
          <a:p>
            <a:pPr>
              <a:lnSpc>
                <a:spcPct val="108000"/>
              </a:lnSpc>
              <a:spcAft>
                <a:spcPts val="1000"/>
              </a:spcAft>
            </a:pPr>
            <a:r>
              <a:rPr sz="1600">
                <a:solidFill>
                  <a:srgbClr val="5A6266"/>
                </a:solidFill>
                <a:latin typeface="Calibri"/>
              </a:rPr>
              <a:t>      –  Strengths: flexible, data-driven, no equations needed</a:t>
            </a:r>
          </a:p>
          <a:p>
            <a:pPr>
              <a:lnSpc>
                <a:spcPct val="108000"/>
              </a:lnSpc>
              <a:spcAft>
                <a:spcPts val="1000"/>
              </a:spcAft>
            </a:pPr>
            <a:r>
              <a:rPr sz="1600">
                <a:solidFill>
                  <a:srgbClr val="5A6266"/>
                </a:solidFill>
                <a:latin typeface="Calibri"/>
              </a:rPr>
              <a:t>      –  Weaknesses: no physics, needs lots of data, black box</a:t>
            </a:r>
          </a:p>
          <a:p>
            <a:pPr>
              <a:lnSpc>
                <a:spcPct val="108000"/>
              </a:lnSpc>
              <a:spcAft>
                <a:spcPts val="1000"/>
              </a:spcAft>
            </a:pPr>
            <a:r>
              <a:rPr sz="1700">
                <a:solidFill>
                  <a:srgbClr val="0B2E40"/>
                </a:solidFill>
                <a:latin typeface="Calibri"/>
              </a:rPr>
              <a:t>•  Most real lake problems sit somewhere in between — that's the hybrid space</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THREE HYBRID STRATEGIES</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How to combine physics and ML</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1. Residual correction  —  what we do today</a:t>
            </a:r>
          </a:p>
          <a:p>
            <a:pPr>
              <a:lnSpc>
                <a:spcPct val="108000"/>
              </a:lnSpc>
              <a:spcAft>
                <a:spcPts val="1000"/>
              </a:spcAft>
            </a:pPr>
            <a:r>
              <a:rPr sz="1600">
                <a:solidFill>
                  <a:srgbClr val="5A6266"/>
                </a:solidFill>
                <a:latin typeface="Calibri"/>
              </a:rPr>
              <a:t>      –  Process model → residuals → ML corrects → hybrid output</a:t>
            </a:r>
          </a:p>
          <a:p>
            <a:pPr>
              <a:lnSpc>
                <a:spcPct val="108000"/>
              </a:lnSpc>
              <a:spcAft>
                <a:spcPts val="1000"/>
              </a:spcAft>
            </a:pPr>
            <a:r>
              <a:rPr sz="1700">
                <a:solidFill>
                  <a:srgbClr val="0B2E40"/>
                </a:solidFill>
                <a:latin typeface="Calibri"/>
              </a:rPr>
              <a:t>•  2. Physics-informed features</a:t>
            </a:r>
          </a:p>
          <a:p>
            <a:pPr>
              <a:lnSpc>
                <a:spcPct val="108000"/>
              </a:lnSpc>
              <a:spcAft>
                <a:spcPts val="1000"/>
              </a:spcAft>
            </a:pPr>
            <a:r>
              <a:rPr sz="1600">
                <a:solidFill>
                  <a:srgbClr val="5A6266"/>
                </a:solidFill>
                <a:latin typeface="Calibri"/>
              </a:rPr>
              <a:t>      –  ML uses process model outputs as input features (T_pred, Schmidt stability)</a:t>
            </a:r>
          </a:p>
          <a:p>
            <a:pPr>
              <a:lnSpc>
                <a:spcPct val="108000"/>
              </a:lnSpc>
              <a:spcAft>
                <a:spcPts val="1000"/>
              </a:spcAft>
            </a:pPr>
            <a:r>
              <a:rPr sz="1700">
                <a:solidFill>
                  <a:srgbClr val="0B2E40"/>
                </a:solidFill>
                <a:latin typeface="Calibri"/>
              </a:rPr>
              <a:t>•  3. Physics-informed loss / constraints</a:t>
            </a:r>
          </a:p>
          <a:p>
            <a:pPr>
              <a:lnSpc>
                <a:spcPct val="108000"/>
              </a:lnSpc>
              <a:spcAft>
                <a:spcPts val="1000"/>
              </a:spcAft>
            </a:pPr>
            <a:r>
              <a:rPr sz="1600">
                <a:solidFill>
                  <a:srgbClr val="5A6266"/>
                </a:solidFill>
                <a:latin typeface="Calibri"/>
              </a:rPr>
              <a:t>      –  ML is penalised when it violates conservation laws (advanced)</a:t>
            </a:r>
          </a:p>
          <a:p>
            <a:pPr>
              <a:lnSpc>
                <a:spcPct val="108000"/>
              </a:lnSpc>
              <a:spcAft>
                <a:spcPts val="1000"/>
              </a:spcAft>
            </a:pPr>
            <a:r>
              <a:rPr sz="1700">
                <a:solidFill>
                  <a:srgbClr val="0B2E40"/>
                </a:solidFill>
                <a:latin typeface="Calibri"/>
              </a:rPr>
              <a:t>•  All three are in active use in the lake modelling literature — we only cover strategy 1 today</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WHY LAKE BANYOLES?</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A karstic system that breaks simple models</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Largest lake in Catalonia — karstic, complex basin structure</a:t>
            </a:r>
          </a:p>
          <a:p>
            <a:pPr>
              <a:lnSpc>
                <a:spcPct val="108000"/>
              </a:lnSpc>
              <a:spcAft>
                <a:spcPts val="1000"/>
              </a:spcAft>
            </a:pPr>
            <a:r>
              <a:rPr sz="1700">
                <a:solidFill>
                  <a:srgbClr val="0B2E40"/>
                </a:solidFill>
                <a:latin typeface="Calibri"/>
              </a:rPr>
              <a:t>•  Groundwater inflow creates an intermittent secondary warm layer at ~25–28 m</a:t>
            </a:r>
          </a:p>
          <a:p>
            <a:pPr>
              <a:lnSpc>
                <a:spcPct val="108000"/>
              </a:lnSpc>
              <a:spcAft>
                <a:spcPts val="1000"/>
              </a:spcAft>
            </a:pPr>
            <a:r>
              <a:rPr sz="1700">
                <a:solidFill>
                  <a:srgbClr val="0B2E40"/>
                </a:solidFill>
                <a:latin typeface="Calibri"/>
              </a:rPr>
              <a:t>•  Summer anoxia below ~15–20 m in the deep basin</a:t>
            </a:r>
          </a:p>
          <a:p>
            <a:pPr>
              <a:lnSpc>
                <a:spcPct val="108000"/>
              </a:lnSpc>
              <a:spcAft>
                <a:spcPts val="1000"/>
              </a:spcAft>
            </a:pPr>
            <a:r>
              <a:rPr sz="1700">
                <a:solidFill>
                  <a:srgbClr val="0B2E40"/>
                </a:solidFill>
                <a:latin typeface="Calibri"/>
              </a:rPr>
              <a:t>•  ACA monitoring: station 0450401, 2007–2026, temperature, DO, chlorophyll a, conductivity, pH, turbidity</a:t>
            </a:r>
          </a:p>
          <a:p>
            <a:pPr>
              <a:lnSpc>
                <a:spcPct val="108000"/>
              </a:lnSpc>
              <a:spcAft>
                <a:spcPts val="1000"/>
              </a:spcAft>
            </a:pPr>
            <a:r>
              <a:rPr sz="1700">
                <a:solidFill>
                  <a:srgbClr val="0B2E40"/>
                </a:solidFill>
                <a:latin typeface="Calibri"/>
              </a:rPr>
              <a:t>•  A simple process model will get the seasonal surface cycle right — and fail on the karstic groundwater signal and the anoxia</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PART 1</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Explore the data</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Understand Lake Banyoles through the lens of swimmer safety</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02_explore.R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30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Campaign overview</a:t>
            </a:r>
          </a:p>
        </p:txBody>
      </p:sp>
      <p:pic>
        <p:nvPicPr>
          <p:cNvPr id="5" name="Picture 4" descr="01_campaign_timeline.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Train (2007–2018) vs. test (2021–2024) campaigns.</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Temperature profiles, 2007–2024</a:t>
            </a:r>
          </a:p>
        </p:txBody>
      </p:sp>
      <p:pic>
        <p:nvPicPr>
          <p:cNvPr id="5" name="Picture 4" descr="02_temp_profiles_ACA.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One line per campaign — the observed thermal record.</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Dissolved oxygen profiles</a:t>
            </a:r>
          </a:p>
        </p:txBody>
      </p:sp>
      <p:pic>
        <p:nvPicPr>
          <p:cNvPr id="5" name="Picture 4" descr="03_DO_profiles_ACA.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With swimmer-risk thresholds overlaid (2 / 4 / 6 mg/L).</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Observed swimmer-risk map</a:t>
            </a:r>
          </a:p>
        </p:txBody>
      </p:sp>
      <p:pic>
        <p:nvPicPr>
          <p:cNvPr id="5" name="Picture 4" descr="04_observed_risk_map.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Depth × campaign heatmap of swimmer risk category.</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ERA5 meteorological context</a:t>
            </a:r>
          </a:p>
        </p:txBody>
      </p:sp>
      <p:pic>
        <p:nvPicPr>
          <p:cNvPr id="5" name="Picture 4" descr="05_era5_campaign_context.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What drives stratification? Air temperature, wind, radiation.</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1 · 02_EXPLORE.R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Risk thresholds vs. temperature/DO</a:t>
            </a:r>
          </a:p>
        </p:txBody>
      </p:sp>
      <p:pic>
        <p:nvPicPr>
          <p:cNvPr id="5" name="Picture 4" descr="06_risk_scatter.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The 2 / 4 / 6 mg/L thresholds that frame everything that follows.</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PART 2</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The process model</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Build a simple 1D physics model and compute its residuals</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03_process_model.R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40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2 · MODEL.R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The physics — deliberately simple</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Mixed layer depth: seasonal, 5 m (summer) to 8 m (winter)</a:t>
            </a:r>
          </a:p>
          <a:p>
            <a:pPr>
              <a:lnSpc>
                <a:spcPct val="108000"/>
              </a:lnSpc>
              <a:spcAft>
                <a:spcPts val="1000"/>
              </a:spcAft>
            </a:pPr>
            <a:r>
              <a:rPr sz="1700">
                <a:solidFill>
                  <a:srgbClr val="0B2E40"/>
                </a:solidFill>
                <a:latin typeface="Calibri"/>
              </a:rPr>
              <a:t>•  Surface temperature: air-coupling + seasonal solar warming</a:t>
            </a:r>
          </a:p>
          <a:p>
            <a:pPr>
              <a:lnSpc>
                <a:spcPct val="108000"/>
              </a:lnSpc>
              <a:spcAft>
                <a:spcPts val="1000"/>
              </a:spcAft>
            </a:pPr>
            <a:r>
              <a:rPr sz="1700">
                <a:solidFill>
                  <a:srgbClr val="0B2E40"/>
                </a:solidFill>
                <a:latin typeface="Calibri"/>
              </a:rPr>
              <a:t>•  Below the mixed layer: exponential thermocline decay toward a deepwater background temperature</a:t>
            </a:r>
          </a:p>
          <a:p>
            <a:pPr>
              <a:lnSpc>
                <a:spcPct val="108000"/>
              </a:lnSpc>
              <a:spcAft>
                <a:spcPts val="1000"/>
              </a:spcAft>
            </a:pPr>
            <a:r>
              <a:rPr sz="1700">
                <a:solidFill>
                  <a:srgbClr val="0B2E40"/>
                </a:solidFill>
                <a:latin typeface="Calibri"/>
              </a:rPr>
              <a:t>•  Weak exponential groundwater bump below ~25 m (intentionally weak — ML learns the rest)</a:t>
            </a:r>
          </a:p>
          <a:p>
            <a:pPr>
              <a:lnSpc>
                <a:spcPct val="108000"/>
              </a:lnSpc>
              <a:spcAft>
                <a:spcPts val="1000"/>
              </a:spcAft>
            </a:pPr>
            <a:r>
              <a:rPr sz="1700">
                <a:solidFill>
                  <a:srgbClr val="0B2E40"/>
                </a:solidFill>
                <a:latin typeface="Calibri"/>
              </a:rPr>
              <a:t>•  Dissolved oxygen: saturation at predicted temperature × a sigmoid O2 fraction that collapses with depth in the stratified season</a:t>
            </a:r>
          </a:p>
          <a:p>
            <a:pPr>
              <a:lnSpc>
                <a:spcPct val="108000"/>
              </a:lnSpc>
              <a:spcAft>
                <a:spcPts val="1000"/>
              </a:spcAft>
            </a:pPr>
            <a:r>
              <a:rPr sz="1700">
                <a:solidFill>
                  <a:srgbClr val="0B2E40"/>
                </a:solidFill>
                <a:latin typeface="Calibri"/>
              </a:rPr>
              <a:t>•  This model is intentionally simple. Its job is not to win an RMSE competition — it's to provide a physically-structured prior that ML can improve.</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2 · 03_PROCESS_MODEL.R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Observed vs. process-model temperature</a:t>
            </a:r>
          </a:p>
        </p:txBody>
      </p:sp>
      <p:pic>
        <p:nvPicPr>
          <p:cNvPr id="5" name="Picture 4" descr="09_temp_obs_vs_pred.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Training campaigns, process model only.</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2 · 03_PROCESS_MODEL.R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Temperature residuals by depth &amp; campaign</a:t>
            </a:r>
          </a:p>
        </p:txBody>
      </p:sp>
      <p:pic>
        <p:nvPicPr>
          <p:cNvPr id="5" name="Picture 4" descr="10_temp_residual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Where the process model is systematically wrong.</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2 · 03_PROCESS_MODEL.R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Dissolved oxygen residuals</a:t>
            </a:r>
          </a:p>
        </p:txBody>
      </p:sp>
      <p:pic>
        <p:nvPicPr>
          <p:cNvPr id="5" name="Picture 4" descr="11_DO_residual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The process model never predicts anoxia — by design.</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2 · 03_PROCESS_MODEL.R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Safe swimming depth — process-model estimate</a:t>
            </a:r>
          </a:p>
        </p:txBody>
      </p:sp>
      <p:pic>
        <p:nvPicPr>
          <p:cNvPr id="5" name="Picture 4" descr="12_safe_depth_proces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A first pass at the risk map, physics only.</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2E40"/>
        </a:solidFill>
        <a:effectLst/>
      </p:bgPr>
    </p:bg>
    <p:spTree>
      <p:nvGrpSpPr>
        <p:cNvPr id="1" name=""/>
        <p:cNvGrpSpPr/>
        <p:nvPr/>
      </p:nvGrpSpPr>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00000"/>
              </a:lnSpc>
            </a:pPr>
            <a:r>
              <a:rPr sz="4800" b="1" i="0">
                <a:solidFill>
                  <a:srgbClr val="FFFFFF"/>
                </a:solidFill>
                <a:latin typeface="Calibri"/>
              </a:rPr>
              <a:t>☕  Break</a:t>
            </a:r>
          </a:p>
        </p:txBody>
      </p:sp>
      <p:sp>
        <p:nvSpPr>
          <p:cNvPr id="3" name="TextBox 2"/>
          <p:cNvSpPr txBox="1"/>
          <p:nvPr/>
        </p:nvSpPr>
        <p:spPr>
          <a:xfrm>
            <a:off x="822960" y="3840480"/>
            <a:ext cx="10515600" cy="548640"/>
          </a:xfrm>
          <a:prstGeom prst="rect">
            <a:avLst/>
          </a:prstGeom>
          <a:noFill/>
        </p:spPr>
        <p:txBody>
          <a:bodyPr wrap="square">
            <a:spAutoFit/>
          </a:bodyPr>
          <a:lstStyle/>
          <a:p>
            <a:pPr algn="l">
              <a:lnSpc>
                <a:spcPct val="100000"/>
              </a:lnSpc>
            </a:pPr>
            <a:r>
              <a:rPr sz="1600" b="0" i="0">
                <a:solidFill>
                  <a:srgbClr val="2A9D8F"/>
                </a:solidFill>
                <a:latin typeface="Calibri"/>
              </a:rPr>
              <a:t>10 minutes — troubleshoot package installs, check data/aca_modelled_train.rds and data/model_params.rds exist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PART 3</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ML on residuals</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Train a random forest to correct what the physics gets wrong</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04_ml_residuals.R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40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Feature matrix &amp; validation strategy</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Features: sin(doy)/cos(doy) — cyclical day-of-year encoding, so December and January are 'close', not 11 apart</a:t>
            </a:r>
          </a:p>
          <a:p>
            <a:pPr>
              <a:lnSpc>
                <a:spcPct val="108000"/>
              </a:lnSpc>
              <a:spcAft>
                <a:spcPts val="1000"/>
              </a:spcAft>
            </a:pPr>
            <a:r>
              <a:rPr sz="1700">
                <a:solidFill>
                  <a:srgbClr val="0B2E40"/>
                </a:solidFill>
                <a:latin typeface="Calibri"/>
              </a:rPr>
              <a:t>•  rel_depth, depth_x_summer — depth interacted with season</a:t>
            </a:r>
          </a:p>
          <a:p>
            <a:pPr>
              <a:lnSpc>
                <a:spcPct val="108000"/>
              </a:lnSpc>
              <a:spcAft>
                <a:spcPts val="1000"/>
              </a:spcAft>
            </a:pPr>
            <a:r>
              <a:rPr sz="1700">
                <a:solidFill>
                  <a:srgbClr val="0B2E40"/>
                </a:solidFill>
                <a:latin typeface="Calibri"/>
              </a:rPr>
              <a:t>•  T_pred, air_temp_14d, wind_ms, radiation_MJ_m2 — physics output + ERA5 forcing</a:t>
            </a:r>
          </a:p>
          <a:p>
            <a:pPr>
              <a:lnSpc>
                <a:spcPct val="108000"/>
              </a:lnSpc>
              <a:spcAft>
                <a:spcPts val="1000"/>
              </a:spcAft>
            </a:pPr>
            <a:r>
              <a:rPr sz="1700">
                <a:solidFill>
                  <a:srgbClr val="0B2E40"/>
                </a:solidFill>
                <a:latin typeface="Calibri"/>
              </a:rPr>
              <a:t>•  Target: temp_residual / DO_residual (observed − process-model prediction)</a:t>
            </a:r>
          </a:p>
          <a:p>
            <a:pPr>
              <a:lnSpc>
                <a:spcPct val="108000"/>
              </a:lnSpc>
              <a:spcAft>
                <a:spcPts val="1000"/>
              </a:spcAft>
            </a:pPr>
            <a:r>
              <a:rPr sz="1700">
                <a:solidFill>
                  <a:srgbClr val="0B2E40"/>
                </a:solidFill>
                <a:latin typeface="Calibri"/>
              </a:rPr>
              <a:t>•  Validation: leave-one-campaign-out (LOCO) CV — random splits would leak temporal information across campaigns from the same period</a:t>
            </a:r>
          </a:p>
          <a:p>
            <a:pPr>
              <a:lnSpc>
                <a:spcPct val="108000"/>
              </a:lnSpc>
              <a:spcAft>
                <a:spcPts val="1000"/>
              </a:spcAft>
            </a:pPr>
            <a:r>
              <a:rPr sz="1700">
                <a:solidFill>
                  <a:srgbClr val="0B2E40"/>
                </a:solidFill>
                <a:latin typeface="Calibri"/>
              </a:rPr>
              <a:t>•  Two random forests trained: one for temperature residuals, one for DO</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Variable importance — temperature RF</a:t>
            </a:r>
          </a:p>
        </p:txBody>
      </p:sp>
      <p:pic>
        <p:nvPicPr>
          <p:cNvPr id="5" name="Picture 4" descr="13_varimp_temp.png"/>
          <p:cNvPicPr>
            <a:picLocks noChangeAspect="1"/>
          </p:cNvPicPr>
          <p:nvPr/>
        </p:nvPicPr>
        <p:blipFill>
          <a:blip r:embed="rId2"/>
          <a:stretch>
            <a:fillRect/>
          </a:stretch>
        </p:blipFill>
        <p:spPr>
          <a:xfrm>
            <a:off x="1295247" y="1600200"/>
            <a:ext cx="9601200" cy="4800600"/>
          </a:xfrm>
          <a:prstGeom prst="rect">
            <a:avLst/>
          </a:prstGeom>
        </p:spPr>
      </p:pic>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Variable importance — DO RF</a:t>
            </a:r>
          </a:p>
        </p:txBody>
      </p:sp>
      <p:pic>
        <p:nvPicPr>
          <p:cNvPr id="5" name="Picture 4" descr="14_varimp_do.png"/>
          <p:cNvPicPr>
            <a:picLocks noChangeAspect="1"/>
          </p:cNvPicPr>
          <p:nvPr/>
        </p:nvPicPr>
        <p:blipFill>
          <a:blip r:embed="rId2"/>
          <a:stretch>
            <a:fillRect/>
          </a:stretch>
        </p:blipFill>
        <p:spPr>
          <a:xfrm>
            <a:off x="1295247" y="1600200"/>
            <a:ext cx="9601200" cy="4800600"/>
          </a:xfrm>
          <a:prstGeom prst="rect">
            <a:avLst/>
          </a:prstGeom>
        </p:spPr>
      </p:pic>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Hybrid vs. observed temperature</a:t>
            </a:r>
          </a:p>
        </p:txBody>
      </p:sp>
      <p:pic>
        <p:nvPicPr>
          <p:cNvPr id="5" name="Picture 4" descr="15_temp_hybrid_vs_ob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Compare the scatter tightness with the process-only fit in Part 2.</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Surface temperature validation</a:t>
            </a:r>
          </a:p>
        </p:txBody>
      </p:sp>
      <p:pic>
        <p:nvPicPr>
          <p:cNvPr id="5" name="Picture 4" descr="16_surface_validation_temp.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ACA test campaigns (2021–2024) — held out from training.</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3 · 04_ML_RESIDUALS.R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Hybrid DO depth profiles</a:t>
            </a:r>
          </a:p>
        </p:txBody>
      </p:sp>
      <p:pic>
        <p:nvPicPr>
          <p:cNvPr id="5" name="Picture 4" descr="17_hybrid_DO_profile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Test campaigns — did we recover the anoxia the process model missed?</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PART 4</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Compare &amp; limitations</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Assemble the risk map and talk honestly about what's still wrong</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05_hybrid_compare.R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20 min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05_HYBRID_COMPARE.R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Hybrid swimmer-risk map</a:t>
            </a:r>
          </a:p>
        </p:txBody>
      </p:sp>
      <p:pic>
        <p:nvPicPr>
          <p:cNvPr id="5" name="Picture 4" descr="18_risk_map.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The centrepiece visual — depth × campaign, hybrid predictions.</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05_HYBRID_COMPARE.R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Safe swimming depth per campaign</a:t>
            </a:r>
          </a:p>
        </p:txBody>
      </p:sp>
      <p:pic>
        <p:nvPicPr>
          <p:cNvPr id="5" name="Picture 4" descr="19_safe_swimming_depth.png"/>
          <p:cNvPicPr>
            <a:picLocks noChangeAspect="1"/>
          </p:cNvPicPr>
          <p:nvPr/>
        </p:nvPicPr>
        <p:blipFill>
          <a:blip r:embed="rId2"/>
          <a:stretch>
            <a:fillRect/>
          </a:stretch>
        </p:blipFill>
        <p:spPr>
          <a:xfrm>
            <a:off x="1295247" y="1600200"/>
            <a:ext cx="9601200" cy="4800600"/>
          </a:xfrm>
          <a:prstGeom prst="rect">
            <a:avLst/>
          </a:prstGeom>
        </p:spPr>
      </p:pic>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05_HYBRID_COMPARE.R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Three-way model comparison</a:t>
            </a:r>
          </a:p>
        </p:txBody>
      </p:sp>
      <p:pic>
        <p:nvPicPr>
          <p:cNvPr id="5" name="Picture 4" descr="20_model_comparison.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Process-only vs. ML-only vs. hybrid — training data, in-sample and LOCO CV.</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05_HYBRID_COMPARE.R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Remaining errors after the hybrid correction</a:t>
            </a:r>
          </a:p>
        </p:txBody>
      </p:sp>
      <p:pic>
        <p:nvPicPr>
          <p:cNvPr id="5" name="Picture 4" descr="21_remaining_error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Where to invest next.</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HONEST LIMITATIONS</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Three honest limitations</a:t>
            </a:r>
          </a:p>
        </p:txBody>
      </p:sp>
      <p:graphicFrame>
        <p:nvGraphicFramePr>
          <p:cNvPr id="5" name="Table 4"/>
          <p:cNvGraphicFramePr>
            <a:graphicFrameLocks noGrp="1"/>
          </p:cNvGraphicFramePr>
          <p:nvPr/>
        </p:nvGraphicFramePr>
        <p:xfrm>
          <a:off x="548640" y="1828800"/>
          <a:ext cx="11064240" cy="4297680"/>
        </p:xfrm>
        <a:graphic>
          <a:graphicData uri="http://schemas.openxmlformats.org/drawingml/2006/table">
            <a:tbl>
              <a:tblPr firstRow="1" bandRow="1">
                <a:tableStyleId>{5C22544A-7EE6-4342-B048-85BDC9FD1C3A}</a:tableStyleId>
              </a:tblPr>
              <a:tblGrid>
                <a:gridCol w="2766060"/>
                <a:gridCol w="8298180"/>
              </a:tblGrid>
              <a:tr h="1074420">
                <a:tc>
                  <a:txBody>
                    <a:bodyPr/>
                    <a:lstStyle/>
                    <a:p>
                      <a:pPr algn="l"/>
                      <a:r>
                        <a:rPr b="1" sz="1500">
                          <a:solidFill>
                            <a:srgbClr val="FFFFFF"/>
                          </a:solidFill>
                        </a:rPr>
                        <a:t>Limitation</a:t>
                      </a:r>
                    </a:p>
                  </a:txBody>
                  <a:tcPr>
                    <a:solidFill>
                      <a:srgbClr val="146C94"/>
                    </a:solidFill>
                  </a:tcPr>
                </a:tc>
                <a:tc>
                  <a:txBody>
                    <a:bodyPr/>
                    <a:lstStyle/>
                    <a:p>
                      <a:pPr algn="l"/>
                      <a:r>
                        <a:rPr b="1" sz="1500">
                          <a:solidFill>
                            <a:srgbClr val="FFFFFF"/>
                          </a:solidFill>
                        </a:rPr>
                        <a:t>What it means</a:t>
                      </a:r>
                    </a:p>
                  </a:txBody>
                  <a:tcPr>
                    <a:solidFill>
                      <a:srgbClr val="146C94"/>
                    </a:solidFill>
                  </a:tcPr>
                </a:tc>
              </a:tr>
              <a:tr h="1074420">
                <a:tc>
                  <a:txBody>
                    <a:bodyPr/>
                    <a:lstStyle/>
                    <a:p>
                      <a:r>
                        <a:rPr sz="1500">
                          <a:solidFill>
                            <a:srgbClr val="0B2E40"/>
                          </a:solidFill>
                        </a:rPr>
                        <a:t>1. Overfitting</a:t>
                      </a:r>
                    </a:p>
                  </a:txBody>
                  <a:tcPr>
                    <a:solidFill>
                      <a:srgbClr val="FFFFFF"/>
                    </a:solidFill>
                  </a:tcPr>
                </a:tc>
                <a:tc>
                  <a:txBody>
                    <a:bodyPr/>
                    <a:lstStyle/>
                    <a:p>
                      <a:r>
                        <a:rPr sz="1500">
                          <a:solidFill>
                            <a:srgbClr val="0B2E40"/>
                          </a:solidFill>
                        </a:rPr>
                        <a:t>In-sample RMSE &lt;&lt; LOCO CV RMSE — the RF memorises campaign-specific patterns it won't see again</a:t>
                      </a:r>
                    </a:p>
                  </a:txBody>
                  <a:tcPr>
                    <a:solidFill>
                      <a:srgbClr val="FFFFFF"/>
                    </a:solidFill>
                  </a:tcPr>
                </a:tc>
              </a:tr>
              <a:tr h="1074420">
                <a:tc>
                  <a:txBody>
                    <a:bodyPr/>
                    <a:lstStyle/>
                    <a:p>
                      <a:r>
                        <a:rPr sz="1500">
                          <a:solidFill>
                            <a:srgbClr val="0B2E40"/>
                          </a:solidFill>
                        </a:rPr>
                        <a:t>2. Surface DO biology</a:t>
                      </a:r>
                    </a:p>
                  </a:txBody>
                  <a:tcPr>
                    <a:solidFill>
                      <a:srgbClr val="ECF3F5"/>
                    </a:solidFill>
                  </a:tcPr>
                </a:tc>
                <a:tc>
                  <a:txBody>
                    <a:bodyPr/>
                    <a:lstStyle/>
                    <a:p>
                      <a:r>
                        <a:rPr sz="1500">
                          <a:solidFill>
                            <a:srgbClr val="0B2E40"/>
                          </a:solidFill>
                        </a:rPr>
                        <a:t>Trained on stratification-driven depth gradients — cannot predict spring blooms (supersaturation) or autumn turnover</a:t>
                      </a:r>
                    </a:p>
                  </a:txBody>
                  <a:tcPr>
                    <a:solidFill>
                      <a:srgbClr val="ECF3F5"/>
                    </a:solidFill>
                  </a:tcPr>
                </a:tc>
              </a:tr>
              <a:tr h="1074420">
                <a:tc>
                  <a:txBody>
                    <a:bodyPr/>
                    <a:lstStyle/>
                    <a:p>
                      <a:r>
                        <a:rPr sz="1500">
                          <a:solidFill>
                            <a:srgbClr val="0B2E40"/>
                          </a:solidFill>
                        </a:rPr>
                        <a:t>3. Depth extrapolation</a:t>
                      </a:r>
                    </a:p>
                  </a:txBody>
                  <a:tcPr>
                    <a:solidFill>
                      <a:srgbClr val="FFFFFF"/>
                    </a:solidFill>
                  </a:tcPr>
                </a:tc>
                <a:tc>
                  <a:txBody>
                    <a:bodyPr/>
                    <a:lstStyle/>
                    <a:p>
                      <a:r>
                        <a:rPr sz="1500">
                          <a:solidFill>
                            <a:srgbClr val="0B2E40"/>
                          </a:solidFill>
                        </a:rPr>
                        <a:t>Training: mostly 0–50 m, 9 summer campaigns. Deep winter/spring hybrid predictions are unvalidated extrapolation</a:t>
                      </a:r>
                    </a:p>
                  </a:txBody>
                  <a:tcPr>
                    <a:solidFill>
                      <a:srgbClr val="FFFFFF"/>
                    </a:solidFill>
                  </a:tcPr>
                </a:tc>
              </a:tr>
            </a:tbl>
          </a:graphicData>
        </a:graphic>
      </p:graphicFrame>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PART 4 · WHEN TO HYBRIDISE</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When is a hybrid worth it?</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Use it when:</a:t>
            </a:r>
          </a:p>
          <a:p>
            <a:pPr>
              <a:lnSpc>
                <a:spcPct val="108000"/>
              </a:lnSpc>
              <a:spcAft>
                <a:spcPts val="1000"/>
              </a:spcAft>
            </a:pPr>
            <a:r>
              <a:rPr sz="1600">
                <a:solidFill>
                  <a:srgbClr val="5A6266"/>
                </a:solidFill>
                <a:latin typeface="Calibri"/>
              </a:rPr>
              <a:t>      –  You have a process model that captures the dominant dynamics (≥ 60% variance)</a:t>
            </a:r>
          </a:p>
          <a:p>
            <a:pPr>
              <a:lnSpc>
                <a:spcPct val="108000"/>
              </a:lnSpc>
              <a:spcAft>
                <a:spcPts val="1000"/>
              </a:spcAft>
            </a:pPr>
            <a:r>
              <a:rPr sz="1600">
                <a:solidFill>
                  <a:srgbClr val="5A6266"/>
                </a:solidFill>
                <a:latin typeface="Calibri"/>
              </a:rPr>
              <a:t>      –  You have a hard-to-model variable (DOM, cyanobacteria, deep O2)</a:t>
            </a:r>
          </a:p>
          <a:p>
            <a:pPr>
              <a:lnSpc>
                <a:spcPct val="108000"/>
              </a:lnSpc>
              <a:spcAft>
                <a:spcPts val="1000"/>
              </a:spcAft>
            </a:pPr>
            <a:r>
              <a:rPr sz="1600">
                <a:solidFill>
                  <a:srgbClr val="5A6266"/>
                </a:solidFill>
                <a:latin typeface="Calibri"/>
              </a:rPr>
              <a:t>      –  Data are limited but process knowledge is strong</a:t>
            </a:r>
          </a:p>
          <a:p>
            <a:pPr>
              <a:lnSpc>
                <a:spcPct val="108000"/>
              </a:lnSpc>
              <a:spcAft>
                <a:spcPts val="1000"/>
              </a:spcAft>
            </a:pPr>
            <a:r>
              <a:rPr sz="1600">
                <a:solidFill>
                  <a:srgbClr val="5A6266"/>
                </a:solidFill>
                <a:latin typeface="Calibri"/>
              </a:rPr>
              <a:t>      –  Extrapolation to new conditions is needed</a:t>
            </a:r>
          </a:p>
          <a:p>
            <a:pPr>
              <a:lnSpc>
                <a:spcPct val="108000"/>
              </a:lnSpc>
              <a:spcAft>
                <a:spcPts val="1000"/>
              </a:spcAft>
            </a:pPr>
            <a:r>
              <a:rPr sz="1700">
                <a:solidFill>
                  <a:srgbClr val="0B2E40"/>
                </a:solidFill>
                <a:latin typeface="Calibri"/>
              </a:rPr>
              <a:t>•  Don't bother when:</a:t>
            </a:r>
          </a:p>
          <a:p>
            <a:pPr>
              <a:lnSpc>
                <a:spcPct val="108000"/>
              </a:lnSpc>
              <a:spcAft>
                <a:spcPts val="1000"/>
              </a:spcAft>
            </a:pPr>
            <a:r>
              <a:rPr sz="1600">
                <a:solidFill>
                  <a:srgbClr val="5A6266"/>
                </a:solidFill>
                <a:latin typeface="Calibri"/>
              </a:rPr>
              <a:t>      –  Your process model is worse than climatology</a:t>
            </a:r>
          </a:p>
          <a:p>
            <a:pPr>
              <a:lnSpc>
                <a:spcPct val="108000"/>
              </a:lnSpc>
              <a:spcAft>
                <a:spcPts val="1000"/>
              </a:spcAft>
            </a:pPr>
            <a:r>
              <a:rPr sz="1600">
                <a:solidFill>
                  <a:srgbClr val="5A6266"/>
                </a:solidFill>
                <a:latin typeface="Calibri"/>
              </a:rPr>
              <a:t>      –  You have abundant data and don't need physics</a:t>
            </a:r>
          </a:p>
          <a:p>
            <a:pPr>
              <a:lnSpc>
                <a:spcPct val="108000"/>
              </a:lnSpc>
              <a:spcAft>
                <a:spcPts val="1000"/>
              </a:spcAft>
            </a:pPr>
            <a:r>
              <a:rPr sz="1600">
                <a:solidFill>
                  <a:srgbClr val="5A6266"/>
                </a:solidFill>
                <a:latin typeface="Calibri"/>
              </a:rPr>
              <a:t>      –  The variable is purely data-driven (e.g. discharge from rainfall)</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BONUS</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Live forecast</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Put the hybrid model to work: a real next-day ENSEMBLE swimmer safety forecast</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06_forecast_tomorrow.R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as time allows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06_FORECAST_TOMORROW.R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Why an ensemble, not a single forecast?</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A single deterministic forecast hides how much tomorrow's weather could plausibly differ — and therefore how much the risk map could shift</a:t>
            </a:r>
          </a:p>
          <a:p>
            <a:pPr>
              <a:lnSpc>
                <a:spcPct val="108000"/>
              </a:lnSpc>
              <a:spcAft>
                <a:spcPts val="1000"/>
              </a:spcAft>
            </a:pPr>
            <a:r>
              <a:rPr sz="1700">
                <a:solidFill>
                  <a:srgbClr val="0B2E40"/>
                </a:solidFill>
                <a:latin typeface="Calibri"/>
              </a:rPr>
              <a:t>•  We use Google DeepMind's WeatherNext 2 (via Open-Meteo's Ensemble API) — a machine-learning weather model that outputs 64 physically plausible realisations of tomorrow's weather instead of one</a:t>
            </a:r>
          </a:p>
          <a:p>
            <a:pPr>
              <a:lnSpc>
                <a:spcPct val="108000"/>
              </a:lnSpc>
              <a:spcAft>
                <a:spcPts val="1000"/>
              </a:spcAft>
            </a:pPr>
            <a:r>
              <a:rPr sz="1700">
                <a:solidFill>
                  <a:srgbClr val="0B2E40"/>
                </a:solidFill>
                <a:latin typeface="Calibri"/>
              </a:rPr>
              <a:t>•  Each of the 64 members is pushed through the exact same process + RF hybrid pipeline used everywhere else today — 64 full depth profiles, not 1</a:t>
            </a:r>
          </a:p>
          <a:p>
            <a:pPr>
              <a:lnSpc>
                <a:spcPct val="108000"/>
              </a:lnSpc>
              <a:spcAft>
                <a:spcPts val="1000"/>
              </a:spcAft>
            </a:pPr>
            <a:r>
              <a:rPr sz="1700">
                <a:solidFill>
                  <a:srgbClr val="0B2E40"/>
                </a:solidFill>
                <a:latin typeface="Calibri"/>
              </a:rPr>
              <a:t>•  One gap: WeatherNext doesn't forecast solar radiation, so that one input is backfilled from a deterministic forecast, shared across members — a good example of a real-world ML-model limitation</a:t>
            </a:r>
          </a:p>
          <a:p>
            <a:pPr>
              <a:lnSpc>
                <a:spcPct val="108000"/>
              </a:lnSpc>
              <a:spcAft>
                <a:spcPts val="1000"/>
              </a:spcAft>
            </a:pPr>
            <a:r>
              <a:rPr sz="1700">
                <a:solidFill>
                  <a:srgbClr val="0B2E40"/>
                </a:solidFill>
                <a:latin typeface="Calibri"/>
              </a:rPr>
              <a:t>•  The payoff: instead of 'safe depth = 9 m', we get a median, a 10–90% range, and a probability of safe conditions at every depth</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06_FORECAST_TOMORROW.R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Ensemble forecast — median &amp; 10-90% range</a:t>
            </a:r>
          </a:p>
        </p:txBody>
      </p:sp>
      <p:pic>
        <p:nvPicPr>
          <p:cNvPr id="5" name="Picture 4" descr="22_forecast_2026-08-18.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Driven live by Google WeatherNext 2's 64-member ensemble — no boat required.</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06_FORECAST_TOMORROW.R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Probability of safe swimming, by depth</a:t>
            </a:r>
          </a:p>
        </p:txBody>
      </p:sp>
      <p:pic>
        <p:nvPicPr>
          <p:cNvPr id="5" name="Picture 4" descr="23_forecast_prob_safe_2026-08-18.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The fraction of ensemble members classifying each depth as safe.</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6C94"/>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spAutoFit/>
          </a:bodyPr>
          <a:lstStyle/>
          <a:p>
            <a:pPr algn="l">
              <a:lnSpc>
                <a:spcPct val="100000"/>
              </a:lnSpc>
            </a:pPr>
            <a:r>
              <a:rPr sz="2000" b="1" i="0">
                <a:solidFill>
                  <a:srgbClr val="E9C46A"/>
                </a:solidFill>
                <a:latin typeface="Calibri"/>
              </a:rPr>
              <a:t>BONUS</a:t>
            </a:r>
          </a:p>
        </p:txBody>
      </p:sp>
      <p:sp>
        <p:nvSpPr>
          <p:cNvPr id="4" name="TextBox 3"/>
          <p:cNvSpPr txBox="1"/>
          <p:nvPr/>
        </p:nvSpPr>
        <p:spPr>
          <a:xfrm>
            <a:off x="777240" y="2606040"/>
            <a:ext cx="10515600" cy="1463040"/>
          </a:xfrm>
          <a:prstGeom prst="rect">
            <a:avLst/>
          </a:prstGeom>
          <a:noFill/>
        </p:spPr>
        <p:txBody>
          <a:bodyPr wrap="square">
            <a:spAutoFit/>
          </a:bodyPr>
          <a:lstStyle/>
          <a:p>
            <a:pPr algn="l">
              <a:lnSpc>
                <a:spcPct val="100000"/>
              </a:lnSpc>
            </a:pPr>
            <a:r>
              <a:rPr sz="3800" b="1" i="0">
                <a:solidFill>
                  <a:srgbClr val="FFFFFF"/>
                </a:solidFill>
                <a:latin typeface="Calibri"/>
              </a:rPr>
              <a:t>Independent validation</a:t>
            </a:r>
          </a:p>
        </p:txBody>
      </p:sp>
      <p:sp>
        <p:nvSpPr>
          <p:cNvPr id="5" name="TextBox 4"/>
          <p:cNvSpPr txBox="1"/>
          <p:nvPr/>
        </p:nvSpPr>
        <p:spPr>
          <a:xfrm>
            <a:off x="822960" y="3977639"/>
            <a:ext cx="10058400" cy="640080"/>
          </a:xfrm>
          <a:prstGeom prst="rect">
            <a:avLst/>
          </a:prstGeom>
          <a:noFill/>
        </p:spPr>
        <p:txBody>
          <a:bodyPr wrap="square">
            <a:spAutoFit/>
          </a:bodyPr>
          <a:lstStyle/>
          <a:p>
            <a:pPr algn="l">
              <a:lnSpc>
                <a:spcPct val="100000"/>
              </a:lnSpc>
            </a:pPr>
            <a:r>
              <a:rPr sz="1800" b="0" i="0">
                <a:solidFill>
                  <a:srgbClr val="FFFFFF"/>
                </a:solidFill>
                <a:latin typeface="Calibri"/>
              </a:rPr>
              <a:t>A genuine out-of-sample test: citizen-science data from a nearby site</a:t>
            </a:r>
          </a:p>
        </p:txBody>
      </p:sp>
      <p:sp>
        <p:nvSpPr>
          <p:cNvPr id="6" name="TextBox 5"/>
          <p:cNvSpPr txBox="1"/>
          <p:nvPr/>
        </p:nvSpPr>
        <p:spPr>
          <a:xfrm>
            <a:off x="822960" y="4709160"/>
            <a:ext cx="8229600" cy="457200"/>
          </a:xfrm>
          <a:prstGeom prst="rect">
            <a:avLst/>
          </a:prstGeom>
          <a:noFill/>
        </p:spPr>
        <p:txBody>
          <a:bodyPr wrap="square">
            <a:spAutoFit/>
          </a:bodyPr>
          <a:lstStyle/>
          <a:p>
            <a:pPr algn="l">
              <a:lnSpc>
                <a:spcPct val="100000"/>
              </a:lnSpc>
            </a:pPr>
            <a:r>
              <a:rPr sz="1400" b="0" i="1">
                <a:solidFill>
                  <a:srgbClr val="2A9D8F"/>
                </a:solidFill>
                <a:latin typeface="Calibri"/>
              </a:rPr>
              <a:t>File: 07_validate_vilar.R</a:t>
            </a:r>
          </a:p>
        </p:txBody>
      </p:sp>
      <p:sp>
        <p:nvSpPr>
          <p:cNvPr id="7" name="TextBox 6"/>
          <p:cNvSpPr txBox="1"/>
          <p:nvPr/>
        </p:nvSpPr>
        <p:spPr>
          <a:xfrm>
            <a:off x="822960" y="6035040"/>
            <a:ext cx="3657600" cy="457200"/>
          </a:xfrm>
          <a:prstGeom prst="rect">
            <a:avLst/>
          </a:prstGeom>
          <a:noFill/>
        </p:spPr>
        <p:txBody>
          <a:bodyPr wrap="square">
            <a:spAutoFit/>
          </a:bodyPr>
          <a:lstStyle/>
          <a:p>
            <a:pPr algn="l">
              <a:lnSpc>
                <a:spcPct val="100000"/>
              </a:lnSpc>
            </a:pPr>
            <a:r>
              <a:rPr sz="1600" b="1" i="0">
                <a:solidFill>
                  <a:srgbClr val="E9C46A"/>
                </a:solidFill>
                <a:latin typeface="Calibri"/>
              </a:rPr>
              <a:t>~ as time allows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07_VALIDATE_VILAR.R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New data: the Vilar temperature soundings</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Citizen-science monitoring shared by Josep Pascual (meteolestartit.cat) — thank you, Josep!</a:t>
            </a:r>
          </a:p>
          <a:p>
            <a:pPr>
              <a:lnSpc>
                <a:spcPct val="108000"/>
              </a:lnSpc>
              <a:spcAft>
                <a:spcPts val="1000"/>
              </a:spcAft>
            </a:pPr>
            <a:r>
              <a:rPr sz="1700">
                <a:solidFill>
                  <a:srgbClr val="0B2E40"/>
                </a:solidFill>
                <a:latin typeface="Calibri"/>
              </a:rPr>
              <a:t>•  62 campaigns, 2023–2026, temperature at 4 sampling points (A, B, C, D)</a:t>
            </a:r>
          </a:p>
          <a:p>
            <a:pPr>
              <a:lnSpc>
                <a:spcPct val="108000"/>
              </a:lnSpc>
              <a:spcAft>
                <a:spcPts val="1000"/>
              </a:spcAft>
            </a:pPr>
            <a:r>
              <a:rPr sz="1700">
                <a:solidFill>
                  <a:srgbClr val="0B2E40"/>
                </a:solidFill>
                <a:latin typeface="Calibri"/>
              </a:rPr>
              <a:t>•  Site A's deep-water plateau (~12.3°C, 20–50 m) matches the ACA station almost exactly on the one directly-overlapping campaign</a:t>
            </a:r>
          </a:p>
          <a:p>
            <a:pPr>
              <a:lnSpc>
                <a:spcPct val="108000"/>
              </a:lnSpc>
              <a:spcAft>
                <a:spcPts val="1000"/>
              </a:spcAft>
            </a:pPr>
            <a:r>
              <a:rPr sz="1700">
                <a:solidFill>
                  <a:srgbClr val="0B2E40"/>
                </a:solidFill>
                <a:latin typeface="Calibri"/>
              </a:rPr>
              <a:t>•  → Site A becomes an independent validation set: 57 campaigns the hybrid model never saw during training (ACA training data is summer-only, 2007–2018)</a:t>
            </a:r>
          </a:p>
          <a:p>
            <a:pPr>
              <a:lnSpc>
                <a:spcPct val="108000"/>
              </a:lnSpc>
              <a:spcAft>
                <a:spcPts val="1000"/>
              </a:spcAft>
            </a:pPr>
            <a:r>
              <a:rPr sz="1700">
                <a:solidFill>
                  <a:srgbClr val="0B2E40"/>
                </a:solidFill>
                <a:latin typeface="Calibri"/>
              </a:rPr>
              <a:t>•  Sites B/C/D are a different, shallower, warmer sub-basin — not comparable to the ACA/process-model domain</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07_VALIDATE_VILAR.R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Observed vs. predicted — Vilar site A</a:t>
            </a:r>
          </a:p>
        </p:txBody>
      </p:sp>
      <p:pic>
        <p:nvPicPr>
          <p:cNvPr id="5" name="Picture 4" descr="24_vilar_validation_scatter.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2,905 depth observations across 57 independent campaigns.</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07_VALIDATE_VILAR.R</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Surface temperature — Vilar site A, 2023–2026</a:t>
            </a:r>
          </a:p>
        </p:txBody>
      </p:sp>
      <p:pic>
        <p:nvPicPr>
          <p:cNvPr id="5" name="Picture 4" descr="25_vilar_validation_timeseries.png"/>
          <p:cNvPicPr>
            <a:picLocks noChangeAspect="1"/>
          </p:cNvPicPr>
          <p:nvPr/>
        </p:nvPicPr>
        <p:blipFill>
          <a:blip r:embed="rId2"/>
          <a:stretch>
            <a:fillRect/>
          </a:stretch>
        </p:blipFill>
        <p:spPr>
          <a:xfrm>
            <a:off x="1679295" y="1600200"/>
            <a:ext cx="8833104" cy="4416552"/>
          </a:xfrm>
          <a:prstGeom prst="rect">
            <a:avLst/>
          </a:prstGeom>
        </p:spPr>
      </p:pic>
      <p:sp>
        <p:nvSpPr>
          <p:cNvPr id="6" name="TextBox 5"/>
          <p:cNvSpPr txBox="1"/>
          <p:nvPr/>
        </p:nvSpPr>
        <p:spPr>
          <a:xfrm>
            <a:off x="548640" y="6071616"/>
            <a:ext cx="11064240" cy="365760"/>
          </a:xfrm>
          <a:prstGeom prst="rect">
            <a:avLst/>
          </a:prstGeom>
          <a:noFill/>
        </p:spPr>
        <p:txBody>
          <a:bodyPr wrap="square">
            <a:spAutoFit/>
          </a:bodyPr>
          <a:lstStyle/>
          <a:p>
            <a:pPr algn="l">
              <a:lnSpc>
                <a:spcPct val="100000"/>
              </a:lnSpc>
            </a:pPr>
            <a:r>
              <a:rPr sz="1300" b="0" i="1">
                <a:solidFill>
                  <a:srgbClr val="5A6266"/>
                </a:solidFill>
                <a:latin typeface="Calibri"/>
              </a:rPr>
              <a:t>Black = observed | Blue = process model | Green = hybrid.</a:t>
            </a:r>
          </a:p>
        </p:txBody>
      </p:sp>
      <p:sp>
        <p:nvSpPr>
          <p:cNvPr id="7" name="TextBox 6"/>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BONUS · KEY FINDING</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The hybrid model does NOT win here</a:t>
            </a:r>
          </a:p>
        </p:txBody>
      </p:sp>
      <p:graphicFrame>
        <p:nvGraphicFramePr>
          <p:cNvPr id="5" name="Table 4"/>
          <p:cNvGraphicFramePr>
            <a:graphicFrameLocks noGrp="1"/>
          </p:cNvGraphicFramePr>
          <p:nvPr/>
        </p:nvGraphicFramePr>
        <p:xfrm>
          <a:off x="548640" y="1828800"/>
          <a:ext cx="11064240" cy="4297680"/>
        </p:xfrm>
        <a:graphic>
          <a:graphicData uri="http://schemas.openxmlformats.org/drawingml/2006/table">
            <a:tbl>
              <a:tblPr firstRow="1" bandRow="1">
                <a:tableStyleId>{5C22544A-7EE6-4342-B048-85BDC9FD1C3A}</a:tableStyleId>
              </a:tblPr>
              <a:tblGrid>
                <a:gridCol w="3688080"/>
                <a:gridCol w="3688080"/>
                <a:gridCol w="3688080"/>
              </a:tblGrid>
              <a:tr h="1074420">
                <a:tc>
                  <a:txBody>
                    <a:bodyPr/>
                    <a:lstStyle/>
                    <a:p>
                      <a:pPr algn="l"/>
                    </a:p>
                  </a:txBody>
                  <a:tcPr>
                    <a:solidFill>
                      <a:srgbClr val="E76F51"/>
                    </a:solidFill>
                  </a:tcPr>
                </a:tc>
                <a:tc>
                  <a:txBody>
                    <a:bodyPr/>
                    <a:lstStyle/>
                    <a:p>
                      <a:pPr algn="l"/>
                      <a:r>
                        <a:rPr b="1" sz="1400">
                          <a:solidFill>
                            <a:srgbClr val="FFFFFF"/>
                          </a:solidFill>
                        </a:rPr>
                        <a:t>Process-only</a:t>
                      </a:r>
                    </a:p>
                  </a:txBody>
                  <a:tcPr>
                    <a:solidFill>
                      <a:srgbClr val="E76F51"/>
                    </a:solidFill>
                  </a:tcPr>
                </a:tc>
                <a:tc>
                  <a:txBody>
                    <a:bodyPr/>
                    <a:lstStyle/>
                    <a:p>
                      <a:pPr algn="l"/>
                      <a:r>
                        <a:rPr b="1" sz="1400">
                          <a:solidFill>
                            <a:srgbClr val="FFFFFF"/>
                          </a:solidFill>
                        </a:rPr>
                        <a:t>Hybrid</a:t>
                      </a:r>
                    </a:p>
                  </a:txBody>
                  <a:tcPr>
                    <a:solidFill>
                      <a:srgbClr val="E76F51"/>
                    </a:solidFill>
                  </a:tcPr>
                </a:tc>
              </a:tr>
              <a:tr h="1074420">
                <a:tc>
                  <a:txBody>
                    <a:bodyPr/>
                    <a:lstStyle/>
                    <a:p>
                      <a:r>
                        <a:rPr sz="1400">
                          <a:solidFill>
                            <a:srgbClr val="0B2E40"/>
                          </a:solidFill>
                        </a:rPr>
                        <a:t>RMSE (°C)</a:t>
                      </a:r>
                    </a:p>
                  </a:txBody>
                  <a:tcPr>
                    <a:solidFill>
                      <a:srgbClr val="FFFFFF"/>
                    </a:solidFill>
                  </a:tcPr>
                </a:tc>
                <a:tc>
                  <a:txBody>
                    <a:bodyPr/>
                    <a:lstStyle/>
                    <a:p>
                      <a:r>
                        <a:rPr sz="1400">
                          <a:solidFill>
                            <a:srgbClr val="0B2E40"/>
                          </a:solidFill>
                        </a:rPr>
                        <a:t>1.70</a:t>
                      </a:r>
                    </a:p>
                  </a:txBody>
                  <a:tcPr>
                    <a:solidFill>
                      <a:srgbClr val="FFFFFF"/>
                    </a:solidFill>
                  </a:tcPr>
                </a:tc>
                <a:tc>
                  <a:txBody>
                    <a:bodyPr/>
                    <a:lstStyle/>
                    <a:p>
                      <a:r>
                        <a:rPr sz="1400">
                          <a:solidFill>
                            <a:srgbClr val="0B2E40"/>
                          </a:solidFill>
                        </a:rPr>
                        <a:t>2.13</a:t>
                      </a:r>
                    </a:p>
                  </a:txBody>
                  <a:tcPr>
                    <a:solidFill>
                      <a:srgbClr val="FFFFFF"/>
                    </a:solidFill>
                  </a:tcPr>
                </a:tc>
              </a:tr>
              <a:tr h="1074420">
                <a:tc>
                  <a:txBody>
                    <a:bodyPr/>
                    <a:lstStyle/>
                    <a:p>
                      <a:r>
                        <a:rPr sz="1400">
                          <a:solidFill>
                            <a:srgbClr val="0B2E40"/>
                          </a:solidFill>
                        </a:rPr>
                        <a:t>R²</a:t>
                      </a:r>
                    </a:p>
                  </a:txBody>
                  <a:tcPr>
                    <a:solidFill>
                      <a:srgbClr val="ECF3F5"/>
                    </a:solidFill>
                  </a:tcPr>
                </a:tc>
                <a:tc>
                  <a:txBody>
                    <a:bodyPr/>
                    <a:lstStyle/>
                    <a:p>
                      <a:r>
                        <a:rPr sz="1400">
                          <a:solidFill>
                            <a:srgbClr val="0B2E40"/>
                          </a:solidFill>
                        </a:rPr>
                        <a:t>0.79</a:t>
                      </a:r>
                    </a:p>
                  </a:txBody>
                  <a:tcPr>
                    <a:solidFill>
                      <a:srgbClr val="ECF3F5"/>
                    </a:solidFill>
                  </a:tcPr>
                </a:tc>
                <a:tc>
                  <a:txBody>
                    <a:bodyPr/>
                    <a:lstStyle/>
                    <a:p>
                      <a:r>
                        <a:rPr sz="1400">
                          <a:solidFill>
                            <a:srgbClr val="0B2E40"/>
                          </a:solidFill>
                        </a:rPr>
                        <a:t>0.68</a:t>
                      </a:r>
                    </a:p>
                  </a:txBody>
                  <a:tcPr>
                    <a:solidFill>
                      <a:srgbClr val="ECF3F5"/>
                    </a:solidFill>
                  </a:tcPr>
                </a:tc>
              </a:tr>
              <a:tr h="1074420">
                <a:tc>
                  <a:txBody>
                    <a:bodyPr/>
                    <a:lstStyle/>
                    <a:p>
                      <a:r>
                        <a:rPr sz="1400">
                          <a:solidFill>
                            <a:srgbClr val="0B2E40"/>
                          </a:solidFill>
                        </a:rPr>
                        <a:t>Bias (°C)</a:t>
                      </a:r>
                    </a:p>
                  </a:txBody>
                  <a:tcPr>
                    <a:solidFill>
                      <a:srgbClr val="FFFFFF"/>
                    </a:solidFill>
                  </a:tcPr>
                </a:tc>
                <a:tc>
                  <a:txBody>
                    <a:bodyPr/>
                    <a:lstStyle/>
                    <a:p>
                      <a:r>
                        <a:rPr sz="1400">
                          <a:solidFill>
                            <a:srgbClr val="0B2E40"/>
                          </a:solidFill>
                        </a:rPr>
                        <a:t>+0.09</a:t>
                      </a:r>
                    </a:p>
                  </a:txBody>
                  <a:tcPr>
                    <a:solidFill>
                      <a:srgbClr val="FFFFFF"/>
                    </a:solidFill>
                  </a:tcPr>
                </a:tc>
                <a:tc>
                  <a:txBody>
                    <a:bodyPr/>
                    <a:lstStyle/>
                    <a:p>
                      <a:r>
                        <a:rPr sz="1400">
                          <a:solidFill>
                            <a:srgbClr val="0B2E40"/>
                          </a:solidFill>
                        </a:rPr>
                        <a:t>+1.01</a:t>
                      </a:r>
                    </a:p>
                  </a:txBody>
                  <a:tcPr>
                    <a:solidFill>
                      <a:srgbClr val="FFFFFF"/>
                    </a:solidFill>
                  </a:tcPr>
                </a:tc>
              </a:tr>
            </a:tbl>
          </a:graphicData>
        </a:graphic>
      </p:graphicFrame>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2E40"/>
        </a:solidFill>
        <a:effectLst/>
      </p:bgPr>
    </p:bg>
    <p:spTree>
      <p:nvGrpSpPr>
        <p:cNvPr id="1" name=""/>
        <p:cNvGrpSpPr/>
        <p:nvPr/>
      </p:nvGrpSpPr>
      <p:grpSpPr/>
      <p:sp>
        <p:nvSpPr>
          <p:cNvPr id="2" name="Rectangle 1"/>
          <p:cNvSpPr/>
          <p:nvPr/>
        </p:nvSpPr>
        <p:spPr>
          <a:xfrm>
            <a:off x="822960" y="1920240"/>
            <a:ext cx="822960" cy="8229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9144000" cy="457200"/>
          </a:xfrm>
          <a:prstGeom prst="rect">
            <a:avLst/>
          </a:prstGeom>
          <a:noFill/>
        </p:spPr>
        <p:txBody>
          <a:bodyPr wrap="square">
            <a:spAutoFit/>
          </a:bodyPr>
          <a:lstStyle/>
          <a:p>
            <a:pPr algn="l">
              <a:lnSpc>
                <a:spcPct val="100000"/>
              </a:lnSpc>
            </a:pPr>
            <a:r>
              <a:rPr sz="1400" b="1" i="0">
                <a:solidFill>
                  <a:srgbClr val="2A9D8F"/>
                </a:solidFill>
                <a:latin typeface="Calibri"/>
              </a:rPr>
              <a:t>THE HONEST TALK</a:t>
            </a:r>
          </a:p>
        </p:txBody>
      </p:sp>
      <p:sp>
        <p:nvSpPr>
          <p:cNvPr id="4" name="TextBox 3"/>
          <p:cNvSpPr txBox="1"/>
          <p:nvPr/>
        </p:nvSpPr>
        <p:spPr>
          <a:xfrm>
            <a:off x="822960" y="2286000"/>
            <a:ext cx="10332720" cy="2926080"/>
          </a:xfrm>
          <a:prstGeom prst="rect">
            <a:avLst/>
          </a:prstGeom>
          <a:noFill/>
        </p:spPr>
        <p:txBody>
          <a:bodyPr wrap="square">
            <a:spAutoFit/>
          </a:bodyPr>
          <a:lstStyle/>
          <a:p>
            <a:pPr algn="l">
              <a:lnSpc>
                <a:spcPct val="120000"/>
              </a:lnSpc>
            </a:pPr>
            <a:r>
              <a:rPr sz="3000" b="0" i="1">
                <a:solidFill>
                  <a:srgbClr val="FFFFFF"/>
                </a:solidFill>
                <a:latin typeface="Calibri"/>
              </a:rPr>
              <a:t>We did many things wrong, but we learned some things.</a:t>
            </a:r>
          </a:p>
          <a:p>
            <a:pPr algn="l">
              <a:lnSpc>
                <a:spcPct val="120000"/>
              </a:lnSpc>
            </a:pPr>
            <a:r>
              <a:rPr sz="3000" b="0" i="1">
                <a:solidFill>
                  <a:srgbClr val="FFFFFF"/>
                </a:solidFill>
                <a:latin typeface="Calibri"/>
              </a:rPr>
              <a:t>In a typical workshop, everything works perfectly.</a:t>
            </a:r>
          </a:p>
          <a:p>
            <a:pPr algn="l">
              <a:lnSpc>
                <a:spcPct val="120000"/>
              </a:lnSpc>
            </a:pPr>
            <a:r>
              <a:rPr sz="3000" b="0" i="1">
                <a:solidFill>
                  <a:srgbClr val="FFFFFF"/>
                </a:solidFill>
                <a:latin typeface="Calibri"/>
              </a:rPr>
              <a:t>Not in this one.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LESSONS LEARNED</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What we got wrong — and why it matters</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We are probably swimming in point C, not A — but we don't have enough ACA data at C to confirm it properly</a:t>
            </a:r>
          </a:p>
          <a:p>
            <a:pPr>
              <a:lnSpc>
                <a:spcPct val="108000"/>
              </a:lnSpc>
              <a:spcAft>
                <a:spcPts val="1000"/>
              </a:spcAft>
            </a:pPr>
            <a:r>
              <a:rPr sz="1700">
                <a:solidFill>
                  <a:srgbClr val="0B2E40"/>
                </a:solidFill>
                <a:latin typeface="Calibri"/>
              </a:rPr>
              <a:t>•  The DO validation is weak: too little recent data to tell if the ML model is overfitting, or genuinely being tested on a different regime</a:t>
            </a:r>
          </a:p>
          <a:p>
            <a:pPr>
              <a:lnSpc>
                <a:spcPct val="108000"/>
              </a:lnSpc>
              <a:spcAft>
                <a:spcPts val="1000"/>
              </a:spcAft>
            </a:pPr>
            <a:r>
              <a:rPr sz="1700">
                <a:solidFill>
                  <a:srgbClr val="0B2E40"/>
                </a:solidFill>
                <a:latin typeface="Calibri"/>
              </a:rPr>
              <a:t>•  Taking independent data from the same lake and running it through 07_validate_vilar.R showed the ML correction is deficient — it likely overfits to the single training site and does not generalise</a:t>
            </a:r>
          </a:p>
          <a:p>
            <a:pPr>
              <a:lnSpc>
                <a:spcPct val="108000"/>
              </a:lnSpc>
              <a:spcAft>
                <a:spcPts val="1000"/>
              </a:spcAft>
            </a:pPr>
            <a:r>
              <a:rPr sz="1700">
                <a:solidFill>
                  <a:srgbClr val="0B2E40"/>
                </a:solidFill>
                <a:latin typeface="Calibri"/>
              </a:rPr>
              <a:t>•  → For this system, right now, trust the process-based model over the ML correction when extrapolating to a new site or season</a:t>
            </a:r>
          </a:p>
          <a:p>
            <a:pPr>
              <a:lnSpc>
                <a:spcPct val="108000"/>
              </a:lnSpc>
              <a:spcAft>
                <a:spcPts val="1000"/>
              </a:spcAft>
            </a:pPr>
            <a:r>
              <a:rPr sz="1700">
                <a:solidFill>
                  <a:srgbClr val="0B2E40"/>
                </a:solidFill>
                <a:latin typeface="Calibri"/>
              </a:rPr>
              <a:t>•  This is the real value of hybrid modelling: it doesn't just make better predictions, it tells you WHERE to be careful</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spAutoFit/>
          </a:bodyPr>
          <a:lstStyle/>
          <a:p>
            <a:pPr algn="l">
              <a:lnSpc>
                <a:spcPct val="100000"/>
              </a:lnSpc>
            </a:pPr>
            <a:r>
              <a:rPr sz="1400" b="1" i="0">
                <a:solidFill>
                  <a:srgbClr val="2A9D8F"/>
                </a:solidFill>
                <a:latin typeface="Calibri"/>
              </a:rPr>
              <a:t>ACKNOWLEDGMENTS</a:t>
            </a:r>
          </a:p>
        </p:txBody>
      </p:sp>
      <p:sp>
        <p:nvSpPr>
          <p:cNvPr id="4" name="TextBox 3"/>
          <p:cNvSpPr txBox="1"/>
          <p:nvPr/>
        </p:nvSpPr>
        <p:spPr>
          <a:xfrm>
            <a:off x="548640" y="640080"/>
            <a:ext cx="11064240" cy="914400"/>
          </a:xfrm>
          <a:prstGeom prst="rect">
            <a:avLst/>
          </a:prstGeom>
          <a:noFill/>
        </p:spPr>
        <p:txBody>
          <a:bodyPr wrap="square">
            <a:spAutoFit/>
          </a:bodyPr>
          <a:lstStyle/>
          <a:p>
            <a:pPr algn="l">
              <a:lnSpc>
                <a:spcPct val="100000"/>
              </a:lnSpc>
            </a:pPr>
            <a:r>
              <a:rPr sz="3000" b="1" i="0">
                <a:solidFill>
                  <a:srgbClr val="0B2E40"/>
                </a:solidFill>
                <a:latin typeface="Calibri"/>
              </a:rPr>
              <a:t>Data &amp; thanks</a:t>
            </a:r>
          </a:p>
        </p:txBody>
      </p:sp>
      <p:sp>
        <p:nvSpPr>
          <p:cNvPr id="5" name="TextBox 4"/>
          <p:cNvSpPr txBox="1"/>
          <p:nvPr/>
        </p:nvSpPr>
        <p:spPr>
          <a:xfrm>
            <a:off x="640080" y="1737360"/>
            <a:ext cx="10881360" cy="4480560"/>
          </a:xfrm>
          <a:prstGeom prst="rect">
            <a:avLst/>
          </a:prstGeom>
          <a:noFill/>
        </p:spPr>
        <p:txBody>
          <a:bodyPr wrap="square">
            <a:spAutoFit/>
          </a:bodyPr>
          <a:lstStyle/>
          <a:p>
            <a:pPr>
              <a:lnSpc>
                <a:spcPct val="108000"/>
              </a:lnSpc>
              <a:spcAft>
                <a:spcPts val="1000"/>
              </a:spcAft>
            </a:pPr>
            <a:r>
              <a:rPr sz="1700">
                <a:solidFill>
                  <a:srgbClr val="0B2E40"/>
                </a:solidFill>
                <a:latin typeface="Calibri"/>
              </a:rPr>
              <a:t>•  Agència Catalana de l'Aigua (ACA) — station 0450401, Lake Banyoles holomictic basin, 2007–2026</a:t>
            </a:r>
          </a:p>
          <a:p>
            <a:pPr>
              <a:lnSpc>
                <a:spcPct val="108000"/>
              </a:lnSpc>
              <a:spcAft>
                <a:spcPts val="1000"/>
              </a:spcAft>
            </a:pPr>
            <a:r>
              <a:rPr sz="1700">
                <a:solidFill>
                  <a:srgbClr val="0B2E40"/>
                </a:solidFill>
                <a:latin typeface="Calibri"/>
              </a:rPr>
              <a:t>•  Open-Meteo — ERA5 daily meteorological reanalysis, 2007–2026</a:t>
            </a:r>
          </a:p>
          <a:p>
            <a:pPr>
              <a:lnSpc>
                <a:spcPct val="108000"/>
              </a:lnSpc>
              <a:spcAft>
                <a:spcPts val="1000"/>
              </a:spcAft>
            </a:pPr>
            <a:r>
              <a:rPr sz="1700">
                <a:solidFill>
                  <a:srgbClr val="0B2E40"/>
                </a:solidFill>
                <a:latin typeface="Calibri"/>
              </a:rPr>
              <a:t>•  Josep Pascual, meteolestartit.cat — Banyoles / Estanyol del Vilar temperature soundings, 2023–2026. Many thanks for generously sharing this citizen-science dataset with the workshop.</a:t>
            </a:r>
          </a:p>
        </p:txBody>
      </p:sp>
      <p:sp>
        <p:nvSpPr>
          <p:cNvPr id="6" name="TextBox 5"/>
          <p:cNvSpPr txBox="1"/>
          <p:nvPr/>
        </p:nvSpPr>
        <p:spPr>
          <a:xfrm>
            <a:off x="548640" y="6510528"/>
            <a:ext cx="7315200" cy="274320"/>
          </a:xfrm>
          <a:prstGeom prst="rect">
            <a:avLst/>
          </a:prstGeom>
          <a:noFill/>
        </p:spPr>
        <p:txBody>
          <a:bodyPr wrap="square">
            <a:spAutoFit/>
          </a:bodyPr>
          <a:lstStyle/>
          <a:p>
            <a:pPr algn="l">
              <a:lnSpc>
                <a:spcPct val="100000"/>
              </a:lnSpc>
            </a:pPr>
            <a:r>
              <a:rPr sz="1000" b="0" i="0">
                <a:solidFill>
                  <a:srgbClr val="5A6266"/>
                </a:solidFill>
                <a:latin typeface="Calibri"/>
              </a:rPr>
              <a:t>GLEON Banyoles 2026  |  Hybrid Lake Modelling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2E40"/>
        </a:solidFill>
        <a:effectLst/>
      </p:bgPr>
    </p:bg>
    <p:spTree>
      <p:nvGrpSpPr>
        <p:cNvPr id="1" name=""/>
        <p:cNvGrpSpPr/>
        <p:nvPr/>
      </p:nvGrpSpPr>
      <p:grpSpPr/>
      <p:sp>
        <p:nvSpPr>
          <p:cNvPr id="2" name="Rectangle 1"/>
          <p:cNvSpPr/>
          <p:nvPr/>
        </p:nvSpPr>
        <p:spPr>
          <a:xfrm>
            <a:off x="822960" y="1920240"/>
            <a:ext cx="822960" cy="8229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9144000" cy="457200"/>
          </a:xfrm>
          <a:prstGeom prst="rect">
            <a:avLst/>
          </a:prstGeom>
          <a:noFill/>
        </p:spPr>
        <p:txBody>
          <a:bodyPr wrap="square">
            <a:spAutoFit/>
          </a:bodyPr>
          <a:lstStyle/>
          <a:p>
            <a:pPr algn="l">
              <a:lnSpc>
                <a:spcPct val="100000"/>
              </a:lnSpc>
            </a:pPr>
            <a:r>
              <a:rPr sz="1400" b="1" i="0">
                <a:solidFill>
                  <a:srgbClr val="2A9D8F"/>
                </a:solidFill>
                <a:latin typeface="Calibri"/>
              </a:rPr>
              <a:t>TAKE-HOME MESSAGE</a:t>
            </a:r>
          </a:p>
        </p:txBody>
      </p:sp>
      <p:sp>
        <p:nvSpPr>
          <p:cNvPr id="4" name="TextBox 3"/>
          <p:cNvSpPr txBox="1"/>
          <p:nvPr/>
        </p:nvSpPr>
        <p:spPr>
          <a:xfrm>
            <a:off x="822960" y="2286000"/>
            <a:ext cx="10332720" cy="2926080"/>
          </a:xfrm>
          <a:prstGeom prst="rect">
            <a:avLst/>
          </a:prstGeom>
          <a:noFill/>
        </p:spPr>
        <p:txBody>
          <a:bodyPr wrap="square">
            <a:spAutoFit/>
          </a:bodyPr>
          <a:lstStyle/>
          <a:p>
            <a:pPr algn="l">
              <a:lnSpc>
                <a:spcPct val="120000"/>
              </a:lnSpc>
            </a:pPr>
            <a:r>
              <a:rPr sz="3000" b="0" i="1">
                <a:solidFill>
                  <a:srgbClr val="FFFFFF"/>
                </a:solidFill>
                <a:latin typeface="Calibri"/>
              </a:rPr>
              <a:t>“A bad process model produces bad residuals for ML to learn.</a:t>
            </a:r>
          </a:p>
          <a:p>
            <a:pPr algn="l">
              <a:lnSpc>
                <a:spcPct val="120000"/>
              </a:lnSpc>
            </a:pPr>
            <a:r>
              <a:rPr sz="3000" b="0" i="1">
                <a:solidFill>
                  <a:srgbClr val="FFFFFF"/>
                </a:solidFill>
                <a:latin typeface="Calibri"/>
              </a:rPr>
              <a:t>A good process model leaves small, structured residuals</a:t>
            </a:r>
          </a:p>
          <a:p>
            <a:pPr algn="l">
              <a:lnSpc>
                <a:spcPct val="120000"/>
              </a:lnSpc>
            </a:pPr>
            <a:r>
              <a:rPr sz="3000" b="0" i="1">
                <a:solidFill>
                  <a:srgbClr val="FFFFFF"/>
                </a:solidFill>
                <a:latin typeface="Calibri"/>
              </a:rPr>
              <a:t>that ML can fix.”</a:t>
            </a:r>
          </a:p>
          <a:p>
            <a:pPr algn="l">
              <a:lnSpc>
                <a:spcPct val="120000"/>
              </a:lnSpc>
            </a:pPr>
          </a:p>
          <a:p>
            <a:pPr algn="l">
              <a:lnSpc>
                <a:spcPct val="120000"/>
              </a:lnSpc>
            </a:pPr>
            <a:r>
              <a:rPr sz="3000" b="0" i="1">
                <a:solidFill>
                  <a:srgbClr val="FFFFFF"/>
                </a:solidFill>
                <a:latin typeface="Calibri"/>
              </a:rPr>
              <a:t>The residual is your research question in disguise.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2E40"/>
        </a:solidFill>
        <a:effectLst/>
      </p:bgPr>
    </p:bg>
    <p:spTree>
      <p:nvGrpSpPr>
        <p:cNvPr id="1" name=""/>
        <p:cNvGrpSpPr/>
        <p:nvPr/>
      </p:nvGrpSpPr>
      <p:grpSpPr/>
      <p:sp>
        <p:nvSpPr>
          <p:cNvPr id="2" name="TextBox 1"/>
          <p:cNvSpPr txBox="1"/>
          <p:nvPr/>
        </p:nvSpPr>
        <p:spPr>
          <a:xfrm>
            <a:off x="822960" y="2377440"/>
            <a:ext cx="10515600" cy="1097280"/>
          </a:xfrm>
          <a:prstGeom prst="rect">
            <a:avLst/>
          </a:prstGeom>
          <a:noFill/>
        </p:spPr>
        <p:txBody>
          <a:bodyPr wrap="square">
            <a:spAutoFit/>
          </a:bodyPr>
          <a:lstStyle/>
          <a:p>
            <a:pPr algn="l">
              <a:lnSpc>
                <a:spcPct val="100000"/>
              </a:lnSpc>
            </a:pPr>
            <a:r>
              <a:rPr sz="4800" b="1" i="0">
                <a:solidFill>
                  <a:srgbClr val="FFFFFF"/>
                </a:solidFill>
                <a:latin typeface="Calibri"/>
              </a:rPr>
              <a:t>Thank you</a:t>
            </a:r>
          </a:p>
        </p:txBody>
      </p:sp>
      <p:sp>
        <p:nvSpPr>
          <p:cNvPr id="3" name="TextBox 2"/>
          <p:cNvSpPr txBox="1"/>
          <p:nvPr/>
        </p:nvSpPr>
        <p:spPr>
          <a:xfrm>
            <a:off x="822960" y="3474720"/>
            <a:ext cx="10515600" cy="548640"/>
          </a:xfrm>
          <a:prstGeom prst="rect">
            <a:avLst/>
          </a:prstGeom>
          <a:noFill/>
        </p:spPr>
        <p:txBody>
          <a:bodyPr wrap="square">
            <a:spAutoFit/>
          </a:bodyPr>
          <a:lstStyle/>
          <a:p>
            <a:pPr algn="l">
              <a:lnSpc>
                <a:spcPct val="100000"/>
              </a:lnSpc>
            </a:pPr>
            <a:r>
              <a:rPr sz="1800" b="0" i="0">
                <a:solidFill>
                  <a:srgbClr val="2A9D8F"/>
                </a:solidFill>
                <a:latin typeface="Calibri"/>
              </a:rPr>
              <a:t>Daniel Mercado-Bettín  ·  CEAB-CSIC</a:t>
            </a:r>
          </a:p>
        </p:txBody>
      </p:sp>
      <p:sp>
        <p:nvSpPr>
          <p:cNvPr id="4" name="TextBox 3"/>
          <p:cNvSpPr txBox="1"/>
          <p:nvPr/>
        </p:nvSpPr>
        <p:spPr>
          <a:xfrm>
            <a:off x="822960" y="4023360"/>
            <a:ext cx="10515600" cy="548640"/>
          </a:xfrm>
          <a:prstGeom prst="rect">
            <a:avLst/>
          </a:prstGeom>
          <a:noFill/>
        </p:spPr>
        <p:txBody>
          <a:bodyPr wrap="square">
            <a:spAutoFit/>
          </a:bodyPr>
          <a:lstStyle/>
          <a:p>
            <a:pPr algn="l">
              <a:lnSpc>
                <a:spcPct val="100000"/>
              </a:lnSpc>
            </a:pPr>
            <a:r>
              <a:rPr sz="1600" b="0" i="0">
                <a:solidFill>
                  <a:srgbClr val="FFFFFF"/>
                </a:solidFill>
                <a:latin typeface="Calibri"/>
              </a:rPr>
              <a:t>github.com/danielmerbet/gleon2026_modelling_workshop</a:t>
            </a:r>
          </a:p>
        </p:txBody>
      </p:sp>
      <p:sp>
        <p:nvSpPr>
          <p:cNvPr id="5" name="TextBox 4"/>
          <p:cNvSpPr txBox="1"/>
          <p:nvPr/>
        </p:nvSpPr>
        <p:spPr>
          <a:xfrm>
            <a:off x="822960" y="4572000"/>
            <a:ext cx="10515600" cy="548640"/>
          </a:xfrm>
          <a:prstGeom prst="rect">
            <a:avLst/>
          </a:prstGeom>
          <a:noFill/>
        </p:spPr>
        <p:txBody>
          <a:bodyPr wrap="square">
            <a:spAutoFit/>
          </a:bodyPr>
          <a:lstStyle/>
          <a:p>
            <a:pPr algn="l">
              <a:lnSpc>
                <a:spcPct val="100000"/>
              </a:lnSpc>
            </a:pPr>
            <a:r>
              <a:rPr sz="1300" b="0" i="0">
                <a:solidFill>
                  <a:srgbClr val="5A6266"/>
                </a:solidFill>
                <a:latin typeface="Calibri"/>
              </a:rPr>
              <a:t>Key references: Willard et al. (2022, SIAM Review) · Read et al. (2019, WRR) · Casamitjana &amp; Roget (1993, L&amp;O)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